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9" r:id="rId7"/>
    <p:sldId id="262" r:id="rId8"/>
    <p:sldId id="271" r:id="rId9"/>
    <p:sldId id="263" r:id="rId10"/>
    <p:sldId id="268" r:id="rId11"/>
    <p:sldId id="264" r:id="rId12"/>
    <p:sldId id="270" r:id="rId13"/>
    <p:sldId id="265" r:id="rId14"/>
    <p:sldId id="266" r:id="rId15"/>
    <p:sldId id="267" r:id="rId16"/>
  </p:sldIdLst>
  <p:sldSz cx="12192000" cy="6858000"/>
  <p:notesSz cx="6858000" cy="9144000"/>
  <p:embeddedFontLst>
    <p:embeddedFont>
      <p:font typeface="Inter" panose="020B0604020202020204"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
      <p:font typeface="Urbanist"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EAE31A-91ED-4016-FC70-A4B151F6269A}" v="463" dt="2026-05-25T07:28:08.412"/>
  </p1510:revLst>
</p1510:revInfo>
</file>

<file path=ppt/tableStyles.xml><?xml version="1.0" encoding="utf-8"?>
<a:tblStyleLst xmlns:a="http://schemas.openxmlformats.org/drawingml/2006/main" def="{83E8FFDC-D215-440B-A447-13B78ED8507A}">
  <a:tblStyle styleId="{83E8FFDC-D215-440B-A447-13B78ED8507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94660"/>
  </p:normalViewPr>
  <p:slideViewPr>
    <p:cSldViewPr snapToGrid="0">
      <p:cViewPr varScale="1">
        <p:scale>
          <a:sx n="105" d="100"/>
          <a:sy n="105" d="100"/>
        </p:scale>
        <p:origin x="720" y="9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B9164000-866C-C8B4-ADB8-E52E5C7FB3F1}"/>
            </a:ext>
          </a:extLst>
        </p:cNvPr>
        <p:cNvGrpSpPr/>
        <p:nvPr/>
      </p:nvGrpSpPr>
      <p:grpSpPr>
        <a:xfrm>
          <a:off x="0" y="0"/>
          <a:ext cx="0" cy="0"/>
          <a:chOff x="0" y="0"/>
          <a:chExt cx="0" cy="0"/>
        </a:xfrm>
      </p:grpSpPr>
      <p:sp>
        <p:nvSpPr>
          <p:cNvPr id="122" name="Google Shape;122;p5:notes">
            <a:extLst>
              <a:ext uri="{FF2B5EF4-FFF2-40B4-BE49-F238E27FC236}">
                <a16:creationId xmlns:a16="http://schemas.microsoft.com/office/drawing/2014/main" id="{EEA96BE8-08F0-B2E9-A7AA-47FC2F4060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a:extLst>
              <a:ext uri="{FF2B5EF4-FFF2-40B4-BE49-F238E27FC236}">
                <a16:creationId xmlns:a16="http://schemas.microsoft.com/office/drawing/2014/main" id="{73FCA699-C1C7-1B60-4923-B20222A6BB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55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B50B29F9-1BB8-0EE9-C569-AC2BE3E7F93C}"/>
            </a:ext>
          </a:extLst>
        </p:cNvPr>
        <p:cNvGrpSpPr/>
        <p:nvPr/>
      </p:nvGrpSpPr>
      <p:grpSpPr>
        <a:xfrm>
          <a:off x="0" y="0"/>
          <a:ext cx="0" cy="0"/>
          <a:chOff x="0" y="0"/>
          <a:chExt cx="0" cy="0"/>
        </a:xfrm>
      </p:grpSpPr>
      <p:sp>
        <p:nvSpPr>
          <p:cNvPr id="158" name="Google Shape;158;p7:notes">
            <a:extLst>
              <a:ext uri="{FF2B5EF4-FFF2-40B4-BE49-F238E27FC236}">
                <a16:creationId xmlns:a16="http://schemas.microsoft.com/office/drawing/2014/main" id="{C0AF6514-108B-F37B-632A-B66A0208FF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a:extLst>
              <a:ext uri="{FF2B5EF4-FFF2-40B4-BE49-F238E27FC236}">
                <a16:creationId xmlns:a16="http://schemas.microsoft.com/office/drawing/2014/main" id="{1F907E33-AD60-2E16-05D7-C4136BDC4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4395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105C11E4-F220-C4A1-F0BF-4B6904F91C10}"/>
            </a:ext>
          </a:extLst>
        </p:cNvPr>
        <p:cNvGrpSpPr/>
        <p:nvPr/>
      </p:nvGrpSpPr>
      <p:grpSpPr>
        <a:xfrm>
          <a:off x="0" y="0"/>
          <a:ext cx="0" cy="0"/>
          <a:chOff x="0" y="0"/>
          <a:chExt cx="0" cy="0"/>
        </a:xfrm>
      </p:grpSpPr>
      <p:sp>
        <p:nvSpPr>
          <p:cNvPr id="165" name="Google Shape;165;p8:notes">
            <a:extLst>
              <a:ext uri="{FF2B5EF4-FFF2-40B4-BE49-F238E27FC236}">
                <a16:creationId xmlns:a16="http://schemas.microsoft.com/office/drawing/2014/main" id="{876A7C87-6F68-2E18-AA62-B4A2C4F65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a:extLst>
              <a:ext uri="{FF2B5EF4-FFF2-40B4-BE49-F238E27FC236}">
                <a16:creationId xmlns:a16="http://schemas.microsoft.com/office/drawing/2014/main" id="{29AE58F3-6FDA-0724-98C2-5C210C6D1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7431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48351785-D036-80EF-8C48-C21051388177}"/>
            </a:ext>
          </a:extLst>
        </p:cNvPr>
        <p:cNvGrpSpPr/>
        <p:nvPr/>
      </p:nvGrpSpPr>
      <p:grpSpPr>
        <a:xfrm>
          <a:off x="0" y="0"/>
          <a:ext cx="0" cy="0"/>
          <a:chOff x="0" y="0"/>
          <a:chExt cx="0" cy="0"/>
        </a:xfrm>
      </p:grpSpPr>
      <p:sp>
        <p:nvSpPr>
          <p:cNvPr id="196" name="Google Shape;196;p9:notes">
            <a:extLst>
              <a:ext uri="{FF2B5EF4-FFF2-40B4-BE49-F238E27FC236}">
                <a16:creationId xmlns:a16="http://schemas.microsoft.com/office/drawing/2014/main" id="{7789753D-92E3-C3F2-EF97-7E35A094BF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9:notes">
            <a:extLst>
              <a:ext uri="{FF2B5EF4-FFF2-40B4-BE49-F238E27FC236}">
                <a16:creationId xmlns:a16="http://schemas.microsoft.com/office/drawing/2014/main" id="{090F2D44-C06A-8C0E-A0EC-6B52BAC9A4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1860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83"/>
        <p:cNvGrpSpPr/>
        <p:nvPr/>
      </p:nvGrpSpPr>
      <p:grpSpPr>
        <a:xfrm>
          <a:off x="0" y="0"/>
          <a:ext cx="0" cy="0"/>
          <a:chOff x="0" y="0"/>
          <a:chExt cx="0" cy="0"/>
        </a:xfrm>
      </p:grpSpPr>
      <p:sp>
        <p:nvSpPr>
          <p:cNvPr id="86" name="Google Shape;86;p13"/>
          <p:cNvSpPr txBox="1"/>
          <p:nvPr/>
        </p:nvSpPr>
        <p:spPr>
          <a:xfrm>
            <a:off x="295275" y="1515376"/>
            <a:ext cx="11601450" cy="2555315"/>
          </a:xfrm>
          <a:prstGeom prst="rect">
            <a:avLst/>
          </a:prstGeom>
          <a:noFill/>
          <a:ln>
            <a:noFill/>
          </a:ln>
        </p:spPr>
        <p:txBody>
          <a:bodyPr spcFirstLastPara="1" wrap="square" lIns="0" tIns="0" rIns="0" bIns="0" anchor="t" anchorCtr="0">
            <a:spAutoFit/>
          </a:bodyPr>
          <a:lstStyle/>
          <a:p>
            <a:pPr marL="0" marR="0" lvl="0" indent="0" algn="ctr" rtl="0">
              <a:lnSpc>
                <a:spcPct val="89983"/>
              </a:lnSpc>
              <a:spcBef>
                <a:spcPts val="0"/>
              </a:spcBef>
              <a:spcAft>
                <a:spcPts val="0"/>
              </a:spcAft>
              <a:buNone/>
            </a:pPr>
            <a:r>
              <a:rPr lang="en-US" sz="6150" b="1" i="0" u="none" strike="noStrike" cap="none">
                <a:solidFill>
                  <a:srgbClr val="FFFFFF"/>
                </a:solidFill>
                <a:latin typeface="Urbanist"/>
                <a:ea typeface="Urbanist"/>
                <a:cs typeface="Urbanist"/>
                <a:sym typeface="Urbanist"/>
              </a:rPr>
              <a:t>PROYECTO DE</a:t>
            </a:r>
            <a:br>
              <a:rPr lang="en-US" sz="1800" b="0" i="0" u="none" strike="noStrike" cap="none" dirty="0">
                <a:latin typeface="Calibri"/>
                <a:ea typeface="Calibri"/>
                <a:cs typeface="Calibri"/>
              </a:rPr>
            </a:br>
            <a:r>
              <a:rPr lang="en-US" sz="6150" b="1" i="0" u="none" strike="noStrike" cap="none">
                <a:solidFill>
                  <a:srgbClr val="00D4FF"/>
                </a:solidFill>
                <a:latin typeface="Urbanist"/>
                <a:ea typeface="Urbanist"/>
                <a:cs typeface="Urbanist"/>
                <a:sym typeface="Urbanist"/>
              </a:rPr>
              <a:t>COMPRA Y VENTA</a:t>
            </a:r>
          </a:p>
          <a:p>
            <a:pPr algn="ctr">
              <a:lnSpc>
                <a:spcPct val="89983"/>
              </a:lnSpc>
            </a:pPr>
            <a:r>
              <a:rPr lang="en-US" sz="6150" b="1" dirty="0">
                <a:solidFill>
                  <a:srgbClr val="00D4FF"/>
                </a:solidFill>
                <a:latin typeface="Urbanist"/>
                <a:ea typeface="Urbanist"/>
                <a:cs typeface="Urbanist"/>
              </a:rPr>
              <a:t>"</a:t>
            </a:r>
            <a:r>
              <a:rPr lang="en-US" sz="6150" b="1" dirty="0" err="1">
                <a:solidFill>
                  <a:srgbClr val="00D4FF"/>
                </a:solidFill>
                <a:latin typeface="Urbanist"/>
                <a:ea typeface="Urbanist"/>
                <a:cs typeface="Urbanist"/>
              </a:rPr>
              <a:t>SneakerHub</a:t>
            </a:r>
            <a:r>
              <a:rPr lang="en-US" sz="6150" b="1" dirty="0">
                <a:solidFill>
                  <a:srgbClr val="00D4FF"/>
                </a:solidFill>
                <a:latin typeface="Urbanist"/>
                <a:ea typeface="Urbanist"/>
                <a:cs typeface="Urbanist"/>
              </a:rPr>
              <a:t>"</a:t>
            </a:r>
          </a:p>
        </p:txBody>
      </p:sp>
      <p:sp>
        <p:nvSpPr>
          <p:cNvPr id="87" name="Google Shape;87;p13"/>
          <p:cNvSpPr txBox="1"/>
          <p:nvPr/>
        </p:nvSpPr>
        <p:spPr>
          <a:xfrm>
            <a:off x="571500" y="422716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FFFFFF"/>
                </a:solidFill>
                <a:latin typeface="Inter"/>
                <a:ea typeface="Inter"/>
                <a:cs typeface="Inter"/>
                <a:sym typeface="Inter"/>
              </a:rPr>
              <a:t>ASIGNATURA:</a:t>
            </a:r>
            <a:r>
              <a:rPr lang="en-US" sz="1500" b="0" i="0" u="none" strike="noStrike" cap="none">
                <a:solidFill>
                  <a:srgbClr val="CCCCCC"/>
                </a:solidFill>
                <a:latin typeface="Inter"/>
                <a:ea typeface="Inter"/>
                <a:cs typeface="Inter"/>
                <a:sym typeface="Inter"/>
              </a:rPr>
              <a:t> Desarrollo de Software • </a:t>
            </a:r>
            <a:r>
              <a:rPr lang="en-US" sz="1500" b="1" i="0" u="none" strike="noStrike" cap="none">
                <a:solidFill>
                  <a:srgbClr val="FFFFFF"/>
                </a:solidFill>
                <a:latin typeface="Inter"/>
                <a:ea typeface="Inter"/>
                <a:cs typeface="Inter"/>
                <a:sym typeface="Inter"/>
              </a:rPr>
              <a:t>SECCIÓN:</a:t>
            </a:r>
            <a:r>
              <a:rPr lang="en-US" sz="1500" b="0" i="0" u="none" strike="noStrike" cap="none">
                <a:solidFill>
                  <a:srgbClr val="CCCCCC"/>
                </a:solidFill>
                <a:latin typeface="Inter"/>
                <a:ea typeface="Inter"/>
                <a:cs typeface="Inter"/>
                <a:sym typeface="Inter"/>
              </a:rPr>
              <a:t> 001D</a:t>
            </a:r>
            <a:endParaRPr/>
          </a:p>
        </p:txBody>
      </p:sp>
      <p:sp>
        <p:nvSpPr>
          <p:cNvPr id="88" name="Google Shape;88;p13"/>
          <p:cNvSpPr txBox="1"/>
          <p:nvPr/>
        </p:nvSpPr>
        <p:spPr>
          <a:xfrm>
            <a:off x="571500" y="472246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INTEGRANTES: Carolina Andrade | Benjamin Tapia | Amaro Osses</a:t>
            </a:r>
            <a:endParaRPr/>
          </a:p>
        </p:txBody>
      </p:sp>
      <p:pic>
        <p:nvPicPr>
          <p:cNvPr id="2" name="Imagen 1" descr="Logotipo&#10;&#10;El contenido generado por IA puede ser incorrecto.">
            <a:extLst>
              <a:ext uri="{FF2B5EF4-FFF2-40B4-BE49-F238E27FC236}">
                <a16:creationId xmlns:a16="http://schemas.microsoft.com/office/drawing/2014/main" id="{33D60373-F54D-5F43-7287-CBA9201D16DC}"/>
              </a:ext>
            </a:extLst>
          </p:cNvPr>
          <p:cNvPicPr>
            <a:picLocks noChangeAspect="1"/>
          </p:cNvPicPr>
          <p:nvPr/>
        </p:nvPicPr>
        <p:blipFill>
          <a:blip r:embed="rId3"/>
          <a:stretch>
            <a:fillRect/>
          </a:stretch>
        </p:blipFill>
        <p:spPr>
          <a:xfrm>
            <a:off x="8896120" y="860"/>
            <a:ext cx="3295881" cy="8061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92"/>
        <p:cNvGrpSpPr/>
        <p:nvPr/>
      </p:nvGrpSpPr>
      <p:grpSpPr>
        <a:xfrm>
          <a:off x="0" y="0"/>
          <a:ext cx="0" cy="0"/>
          <a:chOff x="0" y="0"/>
          <a:chExt cx="0" cy="0"/>
        </a:xfrm>
      </p:grpSpPr>
      <p:sp>
        <p:nvSpPr>
          <p:cNvPr id="94" name="Google Shape;94;p14"/>
          <p:cNvSpPr txBox="1"/>
          <p:nvPr/>
        </p:nvSpPr>
        <p:spPr>
          <a:xfrm>
            <a:off x="295275" y="571500"/>
            <a:ext cx="1160145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u="none" strike="noStrike" cap="none">
                <a:solidFill>
                  <a:srgbClr val="FFFFFF"/>
                </a:solidFill>
                <a:ea typeface="Urbanist"/>
                <a:sym typeface="Urbanist"/>
              </a:rPr>
              <a:t>CONTEXTO DEL CASO</a:t>
            </a:r>
            <a:endParaRPr lang="es-ES" sz="2800" b="1"/>
          </a:p>
        </p:txBody>
      </p:sp>
      <p:sp>
        <p:nvSpPr>
          <p:cNvPr id="95" name="Google Shape;95;p14"/>
          <p:cNvSpPr txBox="1"/>
          <p:nvPr/>
        </p:nvSpPr>
        <p:spPr>
          <a:xfrm>
            <a:off x="571500" y="1457325"/>
            <a:ext cx="11049000" cy="3077766"/>
          </a:xfrm>
          <a:prstGeom prst="rect">
            <a:avLst/>
          </a:prstGeom>
          <a:noFill/>
          <a:ln>
            <a:noFill/>
          </a:ln>
        </p:spPr>
        <p:txBody>
          <a:bodyPr spcFirstLastPara="1" wrap="square" lIns="0" tIns="0" rIns="0" bIns="0" anchor="t" anchorCtr="0">
            <a:spAutoFit/>
          </a:bodyPr>
          <a:lstStyle/>
          <a:p>
            <a:pPr algn="ctr"/>
            <a:r>
              <a:rPr lang="en-US" sz="2000" b="1" dirty="0">
                <a:solidFill>
                  <a:schemeClr val="bg1"/>
                </a:solidFill>
                <a:ea typeface="Inter"/>
                <a:sym typeface="Inter"/>
              </a:rPr>
              <a:t>El </a:t>
            </a:r>
            <a:r>
              <a:rPr lang="en-US" sz="2000" b="1" dirty="0" err="1">
                <a:solidFill>
                  <a:schemeClr val="bg1"/>
                </a:solidFill>
                <a:ea typeface="Inter"/>
                <a:sym typeface="Inter"/>
              </a:rPr>
              <a:t>cliente</a:t>
            </a:r>
            <a:r>
              <a:rPr lang="en-US" sz="2000" b="1" dirty="0">
                <a:solidFill>
                  <a:schemeClr val="bg1"/>
                </a:solidFill>
                <a:ea typeface="Inter"/>
                <a:sym typeface="Inter"/>
              </a:rPr>
              <a:t> de </a:t>
            </a:r>
            <a:r>
              <a:rPr lang="en-US" sz="2000" b="1" dirty="0" err="1">
                <a:solidFill>
                  <a:schemeClr val="bg1"/>
                </a:solidFill>
                <a:ea typeface="Inter"/>
                <a:sym typeface="Inter"/>
              </a:rPr>
              <a:t>este</a:t>
            </a:r>
            <a:r>
              <a:rPr lang="en-US" sz="2000" b="1" dirty="0">
                <a:solidFill>
                  <a:schemeClr val="bg1"/>
                </a:solidFill>
                <a:ea typeface="Inter"/>
                <a:sym typeface="Inter"/>
              </a:rPr>
              <a:t> </a:t>
            </a:r>
            <a:r>
              <a:rPr lang="en-US" sz="2000" b="1" dirty="0" err="1">
                <a:solidFill>
                  <a:schemeClr val="bg1"/>
                </a:solidFill>
                <a:ea typeface="Inter"/>
                <a:sym typeface="Inter"/>
              </a:rPr>
              <a:t>proyecto</a:t>
            </a:r>
            <a:r>
              <a:rPr lang="en-US" sz="2000" b="1" dirty="0">
                <a:solidFill>
                  <a:schemeClr val="bg1"/>
                </a:solidFill>
                <a:ea typeface="Inter"/>
                <a:sym typeface="Inter"/>
              </a:rPr>
              <a:t> es un </a:t>
            </a:r>
            <a:r>
              <a:rPr lang="en-US" sz="2000" b="1" dirty="0" err="1">
                <a:solidFill>
                  <a:schemeClr val="bg1"/>
                </a:solidFill>
                <a:ea typeface="Inter"/>
                <a:sym typeface="Inter"/>
              </a:rPr>
              <a:t>emprendedor</a:t>
            </a:r>
            <a:r>
              <a:rPr lang="en-US" sz="2000" b="1" dirty="0">
                <a:solidFill>
                  <a:schemeClr val="bg1"/>
                </a:solidFill>
                <a:ea typeface="Inter"/>
                <a:sym typeface="Inter"/>
              </a:rPr>
              <a:t> local </a:t>
            </a:r>
            <a:r>
              <a:rPr lang="en-US" sz="2000" b="1" dirty="0" err="1">
                <a:solidFill>
                  <a:schemeClr val="bg1"/>
                </a:solidFill>
                <a:ea typeface="Inter"/>
                <a:sym typeface="Inter"/>
              </a:rPr>
              <a:t>que</a:t>
            </a:r>
            <a:r>
              <a:rPr lang="en-US" sz="2000" b="1" dirty="0">
                <a:solidFill>
                  <a:schemeClr val="bg1"/>
                </a:solidFill>
                <a:ea typeface="Inter"/>
                <a:sym typeface="Inter"/>
              </a:rPr>
              <a:t> se </a:t>
            </a:r>
            <a:r>
              <a:rPr lang="en-US" sz="2000" b="1" dirty="0" err="1">
                <a:solidFill>
                  <a:schemeClr val="bg1"/>
                </a:solidFill>
                <a:ea typeface="Inter"/>
                <a:sym typeface="Inter"/>
              </a:rPr>
              <a:t>dedica</a:t>
            </a:r>
            <a:r>
              <a:rPr lang="en-US" sz="2000" b="1" dirty="0">
                <a:solidFill>
                  <a:schemeClr val="bg1"/>
                </a:solidFill>
                <a:ea typeface="Inter"/>
                <a:sym typeface="Inter"/>
              </a:rPr>
              <a:t> a </a:t>
            </a:r>
            <a:r>
              <a:rPr lang="en-US" sz="2000" b="1" i="0" u="none" strike="noStrike" cap="none" dirty="0">
                <a:solidFill>
                  <a:schemeClr val="bg1"/>
                </a:solidFill>
                <a:ea typeface="Inter"/>
                <a:sym typeface="Inter"/>
              </a:rPr>
              <a:t>la </a:t>
            </a:r>
            <a:r>
              <a:rPr lang="en-US" sz="2000" b="1" dirty="0" err="1">
                <a:solidFill>
                  <a:schemeClr val="bg1"/>
                </a:solidFill>
                <a:ea typeface="Inter"/>
                <a:sym typeface="Inter"/>
              </a:rPr>
              <a:t>compra</a:t>
            </a:r>
            <a:r>
              <a:rPr lang="en-US" sz="2000" b="1" dirty="0">
                <a:solidFill>
                  <a:schemeClr val="bg1"/>
                </a:solidFill>
                <a:ea typeface="Inter"/>
                <a:sym typeface="Inter"/>
              </a:rPr>
              <a:t> y </a:t>
            </a:r>
            <a:r>
              <a:rPr lang="en-US" sz="2000" b="1" dirty="0" err="1">
                <a:solidFill>
                  <a:schemeClr val="bg1"/>
                </a:solidFill>
                <a:ea typeface="Inter"/>
                <a:sym typeface="Inter"/>
              </a:rPr>
              <a:t>venta</a:t>
            </a:r>
            <a:r>
              <a:rPr lang="en-US" sz="2000" b="1" dirty="0">
                <a:solidFill>
                  <a:schemeClr val="bg1"/>
                </a:solidFill>
                <a:ea typeface="Inter"/>
                <a:sym typeface="Inter"/>
              </a:rPr>
              <a:t> </a:t>
            </a:r>
            <a:r>
              <a:rPr lang="en-US" sz="2000" b="1" i="0" u="none" strike="noStrike" cap="none" dirty="0">
                <a:solidFill>
                  <a:schemeClr val="bg1"/>
                </a:solidFill>
                <a:ea typeface="Inter"/>
                <a:sym typeface="Inter"/>
              </a:rPr>
              <a:t>de </a:t>
            </a:r>
            <a:r>
              <a:rPr lang="en-US" sz="2000" b="1" i="0" u="none" strike="noStrike" cap="none" dirty="0" err="1">
                <a:solidFill>
                  <a:schemeClr val="bg1"/>
                </a:solidFill>
                <a:ea typeface="Inter"/>
                <a:sym typeface="Inter"/>
              </a:rPr>
              <a:t>zapatillas</a:t>
            </a:r>
            <a:r>
              <a:rPr lang="en-US" sz="2000" b="1" dirty="0">
                <a:solidFill>
                  <a:schemeClr val="bg1"/>
                </a:solidFill>
                <a:ea typeface="Inter"/>
                <a:sym typeface="Inter"/>
              </a:rPr>
              <a:t> a </a:t>
            </a:r>
            <a:r>
              <a:rPr lang="en-US" sz="2000" b="1" dirty="0" err="1">
                <a:solidFill>
                  <a:schemeClr val="bg1"/>
                </a:solidFill>
                <a:ea typeface="Inter"/>
                <a:sym typeface="Inter"/>
              </a:rPr>
              <a:t>través</a:t>
            </a:r>
            <a:r>
              <a:rPr lang="en-US" sz="2000" b="1" dirty="0">
                <a:solidFill>
                  <a:schemeClr val="bg1"/>
                </a:solidFill>
                <a:ea typeface="Inter"/>
                <a:sym typeface="Inter"/>
              </a:rPr>
              <a:t> de Instagram y WhatsApp. </a:t>
            </a:r>
            <a:r>
              <a:rPr lang="en-US" sz="2000" b="1" dirty="0" err="1">
                <a:solidFill>
                  <a:schemeClr val="bg1"/>
                </a:solidFill>
                <a:ea typeface="Inter"/>
                <a:sym typeface="Inter"/>
              </a:rPr>
              <a:t>Actualmente</a:t>
            </a:r>
            <a:r>
              <a:rPr lang="en-US" sz="2000" b="1" dirty="0">
                <a:solidFill>
                  <a:schemeClr val="bg1"/>
                </a:solidFill>
                <a:ea typeface="Inter"/>
                <a:sym typeface="Inter"/>
              </a:rPr>
              <a:t> </a:t>
            </a:r>
            <a:r>
              <a:rPr lang="en-US" sz="2000" b="1" dirty="0" err="1">
                <a:solidFill>
                  <a:schemeClr val="bg1"/>
                </a:solidFill>
                <a:ea typeface="Inter"/>
                <a:sym typeface="Inter"/>
              </a:rPr>
              <a:t>su</a:t>
            </a:r>
            <a:r>
              <a:rPr lang="en-US" sz="2000" b="1" dirty="0">
                <a:solidFill>
                  <a:schemeClr val="bg1"/>
                </a:solidFill>
                <a:ea typeface="Inter"/>
                <a:sym typeface="Inter"/>
              </a:rPr>
              <a:t> </a:t>
            </a:r>
            <a:r>
              <a:rPr lang="en-US" sz="2000" b="1" dirty="0" err="1">
                <a:solidFill>
                  <a:schemeClr val="bg1"/>
                </a:solidFill>
                <a:ea typeface="Inter"/>
                <a:sym typeface="Inter"/>
              </a:rPr>
              <a:t>negocio</a:t>
            </a:r>
            <a:r>
              <a:rPr lang="en-US" sz="2000" b="1" dirty="0">
                <a:solidFill>
                  <a:schemeClr val="bg1"/>
                </a:solidFill>
                <a:ea typeface="Inter"/>
                <a:sym typeface="Inter"/>
              </a:rPr>
              <a:t> </a:t>
            </a:r>
            <a:r>
              <a:rPr lang="en-US" sz="2000" b="1" dirty="0" err="1">
                <a:solidFill>
                  <a:schemeClr val="bg1"/>
                </a:solidFill>
                <a:ea typeface="Inter"/>
                <a:sym typeface="Inter"/>
              </a:rPr>
              <a:t>necesita</a:t>
            </a:r>
            <a:r>
              <a:rPr lang="en-US" sz="2000" b="1" dirty="0">
                <a:solidFill>
                  <a:schemeClr val="bg1"/>
                </a:solidFill>
                <a:ea typeface="Inter"/>
                <a:sym typeface="Inter"/>
              </a:rPr>
              <a:t> </a:t>
            </a:r>
            <a:r>
              <a:rPr lang="en-US" sz="2000" b="1" dirty="0" err="1">
                <a:solidFill>
                  <a:schemeClr val="bg1"/>
                </a:solidFill>
                <a:ea typeface="Inter"/>
                <a:sym typeface="Inter"/>
              </a:rPr>
              <a:t>actualizarse</a:t>
            </a:r>
            <a:r>
              <a:rPr lang="en-US" sz="2000" b="1" dirty="0">
                <a:solidFill>
                  <a:schemeClr val="bg1"/>
                </a:solidFill>
                <a:ea typeface="Inter"/>
                <a:sym typeface="Inter"/>
              </a:rPr>
              <a:t>  para la </a:t>
            </a:r>
            <a:r>
              <a:rPr lang="en-US" sz="2000" b="1" dirty="0" err="1">
                <a:solidFill>
                  <a:schemeClr val="bg1"/>
                </a:solidFill>
                <a:ea typeface="Inter"/>
                <a:sym typeface="Inter"/>
              </a:rPr>
              <a:t>gestión</a:t>
            </a:r>
            <a:r>
              <a:rPr lang="en-US" sz="2000" b="1" dirty="0">
                <a:solidFill>
                  <a:schemeClr val="bg1"/>
                </a:solidFill>
                <a:ea typeface="Inter"/>
                <a:sym typeface="Inter"/>
              </a:rPr>
              <a:t> de stock y la </a:t>
            </a:r>
            <a:r>
              <a:rPr lang="en-US" sz="2000" b="1" dirty="0" err="1">
                <a:solidFill>
                  <a:schemeClr val="bg1"/>
                </a:solidFill>
                <a:ea typeface="Inter"/>
                <a:sym typeface="Inter"/>
              </a:rPr>
              <a:t>coordinacion</a:t>
            </a:r>
            <a:r>
              <a:rPr lang="en-US" sz="2000" b="1" dirty="0">
                <a:solidFill>
                  <a:schemeClr val="bg1"/>
                </a:solidFill>
                <a:ea typeface="Inter"/>
                <a:sym typeface="Inter"/>
              </a:rPr>
              <a:t> de </a:t>
            </a:r>
            <a:r>
              <a:rPr lang="en-US" sz="2000" b="1" dirty="0" err="1">
                <a:solidFill>
                  <a:schemeClr val="bg1"/>
                </a:solidFill>
                <a:ea typeface="Inter"/>
                <a:sym typeface="Inter"/>
              </a:rPr>
              <a:t>ventas</a:t>
            </a:r>
            <a:r>
              <a:rPr lang="en-US" sz="2000" b="1" dirty="0">
                <a:solidFill>
                  <a:schemeClr val="bg1"/>
                </a:solidFill>
                <a:ea typeface="Inter"/>
                <a:sym typeface="Inter"/>
              </a:rPr>
              <a:t>, </a:t>
            </a:r>
            <a:r>
              <a:rPr lang="en-US" sz="2000" b="1" dirty="0" err="1">
                <a:solidFill>
                  <a:schemeClr val="bg1"/>
                </a:solidFill>
                <a:ea typeface="Inter"/>
                <a:sym typeface="Inter"/>
              </a:rPr>
              <a:t>ya</a:t>
            </a:r>
            <a:r>
              <a:rPr lang="en-US" sz="2000" b="1" dirty="0">
                <a:solidFill>
                  <a:schemeClr val="bg1"/>
                </a:solidFill>
                <a:ea typeface="Inter"/>
                <a:sym typeface="Inter"/>
              </a:rPr>
              <a:t> </a:t>
            </a:r>
            <a:r>
              <a:rPr lang="en-US" sz="2000" b="1" dirty="0" err="1">
                <a:solidFill>
                  <a:schemeClr val="bg1"/>
                </a:solidFill>
                <a:ea typeface="Inter"/>
                <a:sym typeface="Inter"/>
              </a:rPr>
              <a:t>que</a:t>
            </a:r>
            <a:r>
              <a:rPr lang="en-US" sz="2000" b="1" dirty="0">
                <a:solidFill>
                  <a:schemeClr val="bg1"/>
                </a:solidFill>
                <a:ea typeface="Inter"/>
                <a:sym typeface="Inter"/>
              </a:rPr>
              <a:t> </a:t>
            </a:r>
            <a:r>
              <a:rPr lang="en-US" sz="2000" b="1" dirty="0" err="1">
                <a:solidFill>
                  <a:schemeClr val="bg1"/>
                </a:solidFill>
                <a:ea typeface="Inter"/>
                <a:sym typeface="Inter"/>
              </a:rPr>
              <a:t>actualmente</a:t>
            </a:r>
            <a:r>
              <a:rPr lang="en-US" sz="2000" b="1" dirty="0">
                <a:solidFill>
                  <a:schemeClr val="bg1"/>
                </a:solidFill>
                <a:ea typeface="Inter"/>
                <a:sym typeface="Inter"/>
              </a:rPr>
              <a:t> se </a:t>
            </a:r>
            <a:r>
              <a:rPr lang="en-US" sz="2000" b="1" dirty="0" err="1">
                <a:solidFill>
                  <a:schemeClr val="bg1"/>
                </a:solidFill>
                <a:ea typeface="Inter"/>
                <a:sym typeface="Inter"/>
              </a:rPr>
              <a:t>realizan</a:t>
            </a:r>
            <a:r>
              <a:rPr lang="en-US" sz="2000" b="1" dirty="0">
                <a:solidFill>
                  <a:schemeClr val="bg1"/>
                </a:solidFill>
                <a:ea typeface="Inter"/>
                <a:sym typeface="Inter"/>
              </a:rPr>
              <a:t> de forma </a:t>
            </a:r>
            <a:r>
              <a:rPr lang="en-US" sz="2000" b="1" dirty="0" err="1">
                <a:solidFill>
                  <a:schemeClr val="bg1"/>
                </a:solidFill>
                <a:ea typeface="Inter"/>
                <a:sym typeface="Inter"/>
              </a:rPr>
              <a:t>completamente</a:t>
            </a:r>
            <a:r>
              <a:rPr lang="en-US" sz="2000" b="1" dirty="0">
                <a:solidFill>
                  <a:schemeClr val="bg1"/>
                </a:solidFill>
                <a:ea typeface="Inter"/>
                <a:sym typeface="Inter"/>
              </a:rPr>
              <a:t> manual, lo </a:t>
            </a:r>
            <a:r>
              <a:rPr lang="en-US" sz="2000" b="1" dirty="0" err="1">
                <a:solidFill>
                  <a:schemeClr val="bg1"/>
                </a:solidFill>
                <a:ea typeface="Inter"/>
                <a:sym typeface="Inter"/>
              </a:rPr>
              <a:t>cual</a:t>
            </a:r>
            <a:r>
              <a:rPr lang="en-US" sz="2000" b="1" dirty="0">
                <a:solidFill>
                  <a:schemeClr val="bg1"/>
                </a:solidFill>
                <a:ea typeface="Inter"/>
                <a:sym typeface="Inter"/>
              </a:rPr>
              <a:t> </a:t>
            </a:r>
            <a:r>
              <a:rPr lang="en-US" sz="2000" b="1" dirty="0" err="1">
                <a:solidFill>
                  <a:schemeClr val="bg1"/>
                </a:solidFill>
                <a:ea typeface="Inter"/>
                <a:sym typeface="Inter"/>
              </a:rPr>
              <a:t>mantiene</a:t>
            </a:r>
            <a:r>
              <a:rPr lang="en-US" sz="2000" b="1" dirty="0">
                <a:solidFill>
                  <a:schemeClr val="bg1"/>
                </a:solidFill>
                <a:ea typeface="Inter"/>
                <a:sym typeface="Inter"/>
              </a:rPr>
              <a:t> un poco </a:t>
            </a:r>
            <a:r>
              <a:rPr lang="en-US" sz="2000" b="1" dirty="0" err="1">
                <a:solidFill>
                  <a:schemeClr val="bg1"/>
                </a:solidFill>
                <a:ea typeface="Inter"/>
                <a:sym typeface="Inter"/>
              </a:rPr>
              <a:t>estancando</a:t>
            </a:r>
            <a:r>
              <a:rPr lang="en-US" sz="2000" b="1" dirty="0">
                <a:solidFill>
                  <a:schemeClr val="bg1"/>
                </a:solidFill>
                <a:ea typeface="Inter"/>
                <a:sym typeface="Inter"/>
              </a:rPr>
              <a:t> </a:t>
            </a:r>
            <a:r>
              <a:rPr lang="en-US" sz="2000" b="1" dirty="0" err="1">
                <a:solidFill>
                  <a:schemeClr val="bg1"/>
                </a:solidFill>
                <a:ea typeface="Inter"/>
                <a:sym typeface="Inter"/>
              </a:rPr>
              <a:t>el</a:t>
            </a:r>
            <a:r>
              <a:rPr lang="en-US" sz="2000" b="1" dirty="0">
                <a:solidFill>
                  <a:schemeClr val="bg1"/>
                </a:solidFill>
                <a:ea typeface="Inter"/>
                <a:sym typeface="Inter"/>
              </a:rPr>
              <a:t> </a:t>
            </a:r>
            <a:r>
              <a:rPr lang="en-US" sz="2000" b="1" dirty="0" err="1">
                <a:solidFill>
                  <a:schemeClr val="bg1"/>
                </a:solidFill>
                <a:ea typeface="Inter"/>
                <a:sym typeface="Inter"/>
              </a:rPr>
              <a:t>crecimiento</a:t>
            </a:r>
            <a:r>
              <a:rPr lang="en-US" sz="2000" b="1" dirty="0">
                <a:solidFill>
                  <a:schemeClr val="bg1"/>
                </a:solidFill>
                <a:ea typeface="Inter"/>
                <a:sym typeface="Inter"/>
              </a:rPr>
              <a:t> de </a:t>
            </a:r>
            <a:r>
              <a:rPr lang="en-US" sz="2000" b="1" dirty="0" err="1">
                <a:solidFill>
                  <a:schemeClr val="bg1"/>
                </a:solidFill>
                <a:ea typeface="Inter"/>
                <a:sym typeface="Inter"/>
              </a:rPr>
              <a:t>su</a:t>
            </a:r>
            <a:r>
              <a:rPr lang="en-US" sz="2000" b="1" dirty="0">
                <a:solidFill>
                  <a:schemeClr val="bg1"/>
                </a:solidFill>
                <a:ea typeface="Inter"/>
                <a:sym typeface="Inter"/>
              </a:rPr>
              <a:t> </a:t>
            </a:r>
            <a:r>
              <a:rPr lang="en-US" sz="2000" b="1" dirty="0" err="1">
                <a:solidFill>
                  <a:schemeClr val="bg1"/>
                </a:solidFill>
                <a:ea typeface="Inter"/>
                <a:sym typeface="Inter"/>
              </a:rPr>
              <a:t>proyecto</a:t>
            </a:r>
            <a:r>
              <a:rPr lang="en-US" sz="2000" b="1" dirty="0">
                <a:solidFill>
                  <a:schemeClr val="bg1"/>
                </a:solidFill>
                <a:ea typeface="Inter"/>
                <a:sym typeface="Inter"/>
              </a:rPr>
              <a:t>.</a:t>
            </a:r>
            <a:endParaRPr lang="es-ES" sz="2000" b="1">
              <a:solidFill>
                <a:schemeClr val="bg1"/>
              </a:solidFill>
            </a:endParaRPr>
          </a:p>
          <a:p>
            <a:pPr algn="ctr"/>
            <a:r>
              <a:rPr lang="en-US" sz="2000" b="1" dirty="0">
                <a:solidFill>
                  <a:schemeClr val="bg1"/>
                </a:solidFill>
                <a:ea typeface="Inter"/>
                <a:sym typeface="Inter"/>
              </a:rPr>
              <a:t>Para </a:t>
            </a:r>
            <a:r>
              <a:rPr lang="en-US" sz="2000" b="1" dirty="0" err="1">
                <a:solidFill>
                  <a:schemeClr val="bg1"/>
                </a:solidFill>
                <a:ea typeface="Inter"/>
                <a:sym typeface="Inter"/>
              </a:rPr>
              <a:t>agilizar</a:t>
            </a:r>
            <a:r>
              <a:rPr lang="en-US" sz="2000" b="1" dirty="0">
                <a:solidFill>
                  <a:schemeClr val="bg1"/>
                </a:solidFill>
                <a:ea typeface="Inter"/>
                <a:sym typeface="Inter"/>
              </a:rPr>
              <a:t> </a:t>
            </a:r>
            <a:r>
              <a:rPr lang="en-US" sz="2000" b="1" dirty="0" err="1">
                <a:solidFill>
                  <a:schemeClr val="bg1"/>
                </a:solidFill>
                <a:ea typeface="Inter"/>
                <a:sym typeface="Inter"/>
              </a:rPr>
              <a:t>su</a:t>
            </a:r>
            <a:r>
              <a:rPr lang="en-US" sz="2000" b="1" dirty="0">
                <a:solidFill>
                  <a:schemeClr val="bg1"/>
                </a:solidFill>
                <a:ea typeface="Inter"/>
                <a:sym typeface="Inter"/>
              </a:rPr>
              <a:t> </a:t>
            </a:r>
            <a:r>
              <a:rPr lang="en-US" sz="2000" b="1" dirty="0" err="1">
                <a:solidFill>
                  <a:schemeClr val="bg1"/>
                </a:solidFill>
                <a:ea typeface="Inter"/>
                <a:sym typeface="Inter"/>
              </a:rPr>
              <a:t>proyecto</a:t>
            </a:r>
            <a:r>
              <a:rPr lang="en-US" sz="2000" b="1" dirty="0">
                <a:solidFill>
                  <a:schemeClr val="bg1"/>
                </a:solidFill>
                <a:ea typeface="Inter"/>
                <a:sym typeface="Inter"/>
              </a:rPr>
              <a:t> y </a:t>
            </a:r>
            <a:r>
              <a:rPr lang="en-US" sz="2000" b="1" dirty="0" err="1">
                <a:solidFill>
                  <a:schemeClr val="bg1"/>
                </a:solidFill>
                <a:ea typeface="Inter"/>
                <a:sym typeface="Inter"/>
              </a:rPr>
              <a:t>permitir</a:t>
            </a:r>
            <a:r>
              <a:rPr lang="en-US" sz="2000" b="1" dirty="0">
                <a:solidFill>
                  <a:schemeClr val="bg1"/>
                </a:solidFill>
                <a:ea typeface="Inter"/>
                <a:sym typeface="Inter"/>
              </a:rPr>
              <a:t> la </a:t>
            </a:r>
            <a:r>
              <a:rPr lang="en-US" sz="2000" b="1" dirty="0" err="1">
                <a:solidFill>
                  <a:schemeClr val="bg1"/>
                </a:solidFill>
                <a:ea typeface="Inter"/>
                <a:sym typeface="Inter"/>
              </a:rPr>
              <a:t>expansión</a:t>
            </a:r>
            <a:r>
              <a:rPr lang="en-US" sz="2000" b="1" dirty="0">
                <a:solidFill>
                  <a:schemeClr val="bg1"/>
                </a:solidFill>
                <a:ea typeface="Inter"/>
                <a:sym typeface="Inter"/>
              </a:rPr>
              <a:t> del </a:t>
            </a:r>
            <a:r>
              <a:rPr lang="en-US" sz="2000" b="1" dirty="0" err="1">
                <a:solidFill>
                  <a:schemeClr val="bg1"/>
                </a:solidFill>
                <a:ea typeface="Inter"/>
                <a:sym typeface="Inter"/>
              </a:rPr>
              <a:t>negocio</a:t>
            </a:r>
            <a:r>
              <a:rPr lang="en-US" sz="2000" b="1" dirty="0">
                <a:solidFill>
                  <a:schemeClr val="bg1"/>
                </a:solidFill>
                <a:ea typeface="Inter"/>
                <a:sym typeface="Inter"/>
              </a:rPr>
              <a:t>, </a:t>
            </a:r>
            <a:r>
              <a:rPr lang="en-US" sz="2000" b="1" dirty="0" err="1">
                <a:solidFill>
                  <a:schemeClr val="bg1"/>
                </a:solidFill>
                <a:ea typeface="Inter"/>
                <a:sym typeface="Inter"/>
              </a:rPr>
              <a:t>desarrollaremos</a:t>
            </a:r>
            <a:r>
              <a:rPr lang="en-US" sz="2000" b="1" dirty="0">
                <a:solidFill>
                  <a:schemeClr val="bg1"/>
                </a:solidFill>
                <a:ea typeface="Inter"/>
                <a:sym typeface="Inter"/>
              </a:rPr>
              <a:t> </a:t>
            </a:r>
            <a:r>
              <a:rPr lang="en-US" sz="2000" b="1" dirty="0" err="1">
                <a:solidFill>
                  <a:schemeClr val="bg1"/>
                </a:solidFill>
                <a:ea typeface="Inter"/>
                <a:sym typeface="Inter"/>
              </a:rPr>
              <a:t>una</a:t>
            </a:r>
            <a:r>
              <a:rPr lang="en-US" sz="2000" b="1" dirty="0">
                <a:solidFill>
                  <a:schemeClr val="bg1"/>
                </a:solidFill>
                <a:ea typeface="Inter"/>
                <a:sym typeface="Inter"/>
              </a:rPr>
              <a:t> </a:t>
            </a:r>
            <a:r>
              <a:rPr lang="en-US" sz="2000" b="1" dirty="0" err="1">
                <a:solidFill>
                  <a:schemeClr val="bg1"/>
                </a:solidFill>
                <a:ea typeface="Inter"/>
                <a:sym typeface="Inter"/>
              </a:rPr>
              <a:t>aplicacion</a:t>
            </a:r>
            <a:r>
              <a:rPr lang="en-US" sz="2000" b="1" dirty="0">
                <a:solidFill>
                  <a:schemeClr val="bg1"/>
                </a:solidFill>
                <a:ea typeface="Inter"/>
                <a:sym typeface="Inter"/>
              </a:rPr>
              <a:t> a </a:t>
            </a:r>
            <a:r>
              <a:rPr lang="en-US" sz="2000" b="1" dirty="0" err="1">
                <a:solidFill>
                  <a:schemeClr val="bg1"/>
                </a:solidFill>
                <a:ea typeface="Inter"/>
                <a:sym typeface="Inter"/>
              </a:rPr>
              <a:t>medida</a:t>
            </a:r>
            <a:r>
              <a:rPr lang="en-US" sz="2000" b="1" dirty="0">
                <a:solidFill>
                  <a:schemeClr val="bg1"/>
                </a:solidFill>
                <a:ea typeface="Inter"/>
                <a:sym typeface="Inter"/>
              </a:rPr>
              <a:t>. Esta </a:t>
            </a:r>
            <a:r>
              <a:rPr lang="en-US" sz="2000" b="1" dirty="0" err="1">
                <a:solidFill>
                  <a:schemeClr val="bg1"/>
                </a:solidFill>
                <a:ea typeface="Inter"/>
                <a:sym typeface="Inter"/>
              </a:rPr>
              <a:t>solución</a:t>
            </a:r>
            <a:r>
              <a:rPr lang="en-US" sz="2000" b="1" dirty="0">
                <a:solidFill>
                  <a:schemeClr val="bg1"/>
                </a:solidFill>
                <a:ea typeface="Inter"/>
                <a:sym typeface="Inter"/>
              </a:rPr>
              <a:t> </a:t>
            </a:r>
            <a:r>
              <a:rPr lang="en-US" sz="2000" b="1" dirty="0" err="1">
                <a:solidFill>
                  <a:schemeClr val="bg1"/>
                </a:solidFill>
                <a:ea typeface="Inter"/>
                <a:sym typeface="Inter"/>
              </a:rPr>
              <a:t>p</a:t>
            </a:r>
            <a:r>
              <a:rPr lang="en-US" sz="2000" b="1" dirty="0" err="1">
                <a:solidFill>
                  <a:schemeClr val="bg1"/>
                </a:solidFill>
                <a:highlight>
                  <a:srgbClr val="1E1F20"/>
                </a:highlight>
                <a:ea typeface="Inter"/>
                <a:sym typeface="Inter"/>
              </a:rPr>
              <a:t>ermitirá</a:t>
            </a:r>
            <a:r>
              <a:rPr lang="en-US" sz="2000" b="1" dirty="0">
                <a:solidFill>
                  <a:schemeClr val="bg1"/>
                </a:solidFill>
                <a:highlight>
                  <a:srgbClr val="1E1F20"/>
                </a:highlight>
                <a:ea typeface="Inter"/>
                <a:sym typeface="Inter"/>
              </a:rPr>
              <a:t> a </a:t>
            </a:r>
            <a:r>
              <a:rPr lang="en-US" sz="2000" b="1" dirty="0" err="1">
                <a:solidFill>
                  <a:schemeClr val="bg1"/>
                </a:solidFill>
                <a:highlight>
                  <a:srgbClr val="1E1F20"/>
                </a:highlight>
                <a:ea typeface="Inter"/>
                <a:sym typeface="Inter"/>
              </a:rPr>
              <a:t>nuestro</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cliente</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mantenerse</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actualizado</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en</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cuanto</a:t>
            </a:r>
            <a:r>
              <a:rPr lang="en-US" sz="2000" b="1" dirty="0">
                <a:solidFill>
                  <a:schemeClr val="bg1"/>
                </a:solidFill>
                <a:highlight>
                  <a:srgbClr val="1E1F20"/>
                </a:highlight>
                <a:ea typeface="Inter"/>
                <a:sym typeface="Inter"/>
              </a:rPr>
              <a:t> a </a:t>
            </a:r>
            <a:r>
              <a:rPr lang="en-US" sz="2000" b="1" dirty="0" err="1">
                <a:solidFill>
                  <a:schemeClr val="bg1"/>
                </a:solidFill>
                <a:highlight>
                  <a:srgbClr val="1E1F20"/>
                </a:highlight>
                <a:ea typeface="Inter"/>
                <a:sym typeface="Inter"/>
              </a:rPr>
              <a:t>su</a:t>
            </a:r>
            <a:r>
              <a:rPr lang="en-US" sz="2000" b="1" dirty="0">
                <a:solidFill>
                  <a:schemeClr val="bg1"/>
                </a:solidFill>
                <a:highlight>
                  <a:srgbClr val="1E1F20"/>
                </a:highlight>
                <a:ea typeface="Inter"/>
                <a:sym typeface="Inter"/>
              </a:rPr>
              <a:t> stock, </a:t>
            </a:r>
            <a:r>
              <a:rPr lang="en-US" sz="2000" b="1" dirty="0" err="1">
                <a:solidFill>
                  <a:schemeClr val="bg1"/>
                </a:solidFill>
                <a:highlight>
                  <a:srgbClr val="1E1F20"/>
                </a:highlight>
                <a:ea typeface="Inter"/>
                <a:sym typeface="Inter"/>
              </a:rPr>
              <a:t>entregas</a:t>
            </a:r>
            <a:r>
              <a:rPr lang="en-US" sz="2000" b="1" dirty="0">
                <a:solidFill>
                  <a:schemeClr val="bg1"/>
                </a:solidFill>
                <a:highlight>
                  <a:srgbClr val="1E1F20"/>
                </a:highlight>
                <a:ea typeface="Inter"/>
                <a:sym typeface="Inter"/>
              </a:rPr>
              <a:t> y </a:t>
            </a:r>
            <a:r>
              <a:rPr lang="en-US" sz="2000" b="1" dirty="0" err="1">
                <a:solidFill>
                  <a:schemeClr val="bg1"/>
                </a:solidFill>
                <a:highlight>
                  <a:srgbClr val="1E1F20"/>
                </a:highlight>
                <a:ea typeface="Inter"/>
                <a:sym typeface="Inter"/>
              </a:rPr>
              <a:t>pagos</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ya</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realizados</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dentro</a:t>
            </a:r>
            <a:r>
              <a:rPr lang="en-US" sz="2000" b="1" dirty="0">
                <a:solidFill>
                  <a:schemeClr val="bg1"/>
                </a:solidFill>
                <a:highlight>
                  <a:srgbClr val="1E1F20"/>
                </a:highlight>
                <a:ea typeface="Inter"/>
                <a:sym typeface="Inter"/>
              </a:rPr>
              <a:t> de la </a:t>
            </a:r>
            <a:r>
              <a:rPr lang="en-US" sz="2000" b="1" dirty="0" err="1">
                <a:solidFill>
                  <a:schemeClr val="bg1"/>
                </a:solidFill>
                <a:highlight>
                  <a:srgbClr val="1E1F20"/>
                </a:highlight>
                <a:ea typeface="Inter"/>
                <a:sym typeface="Inter"/>
              </a:rPr>
              <a:t>aplicación</a:t>
            </a:r>
            <a:r>
              <a:rPr lang="en-US" sz="2000" b="1" dirty="0">
                <a:solidFill>
                  <a:schemeClr val="bg1"/>
                </a:solidFill>
                <a:highlight>
                  <a:srgbClr val="1E1F20"/>
                </a:highlight>
                <a:ea typeface="Inter"/>
                <a:sym typeface="Inter"/>
              </a:rPr>
              <a:t>. La idea es </a:t>
            </a:r>
            <a:r>
              <a:rPr lang="en-US" sz="2000" b="1" dirty="0" err="1">
                <a:solidFill>
                  <a:schemeClr val="bg1"/>
                </a:solidFill>
                <a:highlight>
                  <a:srgbClr val="1E1F20"/>
                </a:highlight>
                <a:ea typeface="Inter"/>
                <a:sym typeface="Inter"/>
              </a:rPr>
              <a:t>que</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pueda</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automatizar</a:t>
            </a:r>
            <a:r>
              <a:rPr lang="en-US" sz="2000" b="1" dirty="0">
                <a:solidFill>
                  <a:schemeClr val="bg1"/>
                </a:solidFill>
                <a:highlight>
                  <a:srgbClr val="1E1F20"/>
                </a:highlight>
                <a:ea typeface="Inter"/>
                <a:sym typeface="Inter"/>
              </a:rPr>
              <a:t> y </a:t>
            </a:r>
            <a:r>
              <a:rPr lang="en-US" sz="2000" b="1" dirty="0" err="1">
                <a:solidFill>
                  <a:schemeClr val="bg1"/>
                </a:solidFill>
                <a:highlight>
                  <a:srgbClr val="1E1F20"/>
                </a:highlight>
                <a:ea typeface="Inter"/>
                <a:sym typeface="Inter"/>
              </a:rPr>
              <a:t>agilizar</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todo</a:t>
            </a:r>
            <a:r>
              <a:rPr lang="en-US" sz="2000" b="1" dirty="0">
                <a:solidFill>
                  <a:schemeClr val="bg1"/>
                </a:solidFill>
                <a:highlight>
                  <a:srgbClr val="1E1F20"/>
                </a:highlight>
                <a:ea typeface="Inter"/>
                <a:sym typeface="Inter"/>
              </a:rPr>
              <a:t> ese </a:t>
            </a:r>
            <a:r>
              <a:rPr lang="en-US" sz="2000" b="1" dirty="0" err="1">
                <a:solidFill>
                  <a:schemeClr val="bg1"/>
                </a:solidFill>
                <a:highlight>
                  <a:srgbClr val="1E1F20"/>
                </a:highlight>
                <a:ea typeface="Inter"/>
                <a:sym typeface="Inter"/>
              </a:rPr>
              <a:t>proceso</a:t>
            </a:r>
            <a:r>
              <a:rPr lang="en-US" sz="2000" b="1" dirty="0">
                <a:solidFill>
                  <a:schemeClr val="bg1"/>
                </a:solidFill>
                <a:highlight>
                  <a:srgbClr val="1E1F20"/>
                </a:highlight>
                <a:ea typeface="Inter"/>
                <a:sym typeface="Inter"/>
              </a:rPr>
              <a:t> para </a:t>
            </a:r>
            <a:r>
              <a:rPr lang="en-US" sz="2000" b="1" dirty="0" err="1">
                <a:solidFill>
                  <a:schemeClr val="bg1"/>
                </a:solidFill>
                <a:highlight>
                  <a:srgbClr val="1E1F20"/>
                </a:highlight>
                <a:ea typeface="Inter"/>
                <a:sym typeface="Inter"/>
              </a:rPr>
              <a:t>que</a:t>
            </a:r>
            <a:r>
              <a:rPr lang="en-US" sz="2000" b="1" dirty="0">
                <a:solidFill>
                  <a:schemeClr val="bg1"/>
                </a:solidFill>
                <a:highlight>
                  <a:srgbClr val="1E1F20"/>
                </a:highlight>
                <a:ea typeface="Inter"/>
                <a:sym typeface="Inter"/>
              </a:rPr>
              <a:t> las </a:t>
            </a:r>
            <a:r>
              <a:rPr lang="en-US" sz="2000" b="1" dirty="0" err="1">
                <a:solidFill>
                  <a:schemeClr val="bg1"/>
                </a:solidFill>
                <a:highlight>
                  <a:srgbClr val="1E1F20"/>
                </a:highlight>
                <a:ea typeface="Inter"/>
                <a:sym typeface="Inter"/>
              </a:rPr>
              <a:t>ventas</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puedan</a:t>
            </a:r>
            <a:r>
              <a:rPr lang="en-US" sz="2000" b="1" dirty="0">
                <a:solidFill>
                  <a:schemeClr val="bg1"/>
                </a:solidFill>
                <a:highlight>
                  <a:srgbClr val="1E1F20"/>
                </a:highlight>
                <a:ea typeface="Inter"/>
                <a:sym typeface="Inter"/>
              </a:rPr>
              <a:t> ser </a:t>
            </a:r>
            <a:r>
              <a:rPr lang="en-US" sz="2000" b="1" dirty="0" err="1">
                <a:solidFill>
                  <a:schemeClr val="bg1"/>
                </a:solidFill>
                <a:highlight>
                  <a:srgbClr val="1E1F20"/>
                </a:highlight>
                <a:ea typeface="Inter"/>
                <a:sym typeface="Inter"/>
              </a:rPr>
              <a:t>más</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rápidas</a:t>
            </a:r>
            <a:r>
              <a:rPr lang="en-US" sz="2000" b="1" dirty="0">
                <a:solidFill>
                  <a:schemeClr val="bg1"/>
                </a:solidFill>
                <a:highlight>
                  <a:srgbClr val="1E1F20"/>
                </a:highlight>
                <a:ea typeface="Inter"/>
                <a:sym typeface="Inter"/>
              </a:rPr>
              <a:t> y </a:t>
            </a:r>
            <a:r>
              <a:rPr lang="en-US" sz="2000" b="1" dirty="0" err="1">
                <a:solidFill>
                  <a:schemeClr val="bg1"/>
                </a:solidFill>
                <a:highlight>
                  <a:srgbClr val="1E1F20"/>
                </a:highlight>
                <a:ea typeface="Inter"/>
                <a:sym typeface="Inter"/>
              </a:rPr>
              <a:t>expandirse</a:t>
            </a:r>
            <a:r>
              <a:rPr lang="en-US" sz="2000" b="1" dirty="0">
                <a:solidFill>
                  <a:schemeClr val="bg1"/>
                </a:solidFill>
                <a:highlight>
                  <a:srgbClr val="1E1F20"/>
                </a:highlight>
                <a:ea typeface="Inter"/>
                <a:sym typeface="Inter"/>
              </a:rPr>
              <a:t> a </a:t>
            </a:r>
            <a:r>
              <a:rPr lang="en-US" sz="2000" b="1" dirty="0" err="1">
                <a:solidFill>
                  <a:schemeClr val="bg1"/>
                </a:solidFill>
                <a:highlight>
                  <a:srgbClr val="1E1F20"/>
                </a:highlight>
                <a:ea typeface="Inter"/>
                <a:sym typeface="Inter"/>
              </a:rPr>
              <a:t>más</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gente</a:t>
            </a:r>
            <a:r>
              <a:rPr lang="en-US" sz="2000" b="1" dirty="0">
                <a:solidFill>
                  <a:schemeClr val="bg1"/>
                </a:solidFill>
                <a:highlight>
                  <a:srgbClr val="1E1F20"/>
                </a:highlight>
                <a:ea typeface="Inter"/>
                <a:sym typeface="Inter"/>
              </a:rPr>
              <a:t> sin </a:t>
            </a:r>
            <a:r>
              <a:rPr lang="en-US" sz="2000" b="1" dirty="0" err="1">
                <a:solidFill>
                  <a:schemeClr val="bg1"/>
                </a:solidFill>
                <a:highlight>
                  <a:srgbClr val="1E1F20"/>
                </a:highlight>
                <a:ea typeface="Inter"/>
                <a:sym typeface="Inter"/>
              </a:rPr>
              <a:t>necesidad</a:t>
            </a:r>
            <a:r>
              <a:rPr lang="en-US" sz="2000" b="1" dirty="0">
                <a:solidFill>
                  <a:schemeClr val="bg1"/>
                </a:solidFill>
                <a:highlight>
                  <a:srgbClr val="1E1F20"/>
                </a:highlight>
                <a:ea typeface="Inter"/>
                <a:sym typeface="Inter"/>
              </a:rPr>
              <a:t> de </a:t>
            </a:r>
            <a:r>
              <a:rPr lang="en-US" sz="2000" b="1" dirty="0" err="1">
                <a:solidFill>
                  <a:schemeClr val="bg1"/>
                </a:solidFill>
                <a:highlight>
                  <a:srgbClr val="1E1F20"/>
                </a:highlight>
                <a:ea typeface="Inter"/>
                <a:sym typeface="Inter"/>
              </a:rPr>
              <a:t>hacer</a:t>
            </a:r>
            <a:r>
              <a:rPr lang="en-US" sz="2000" b="1" dirty="0">
                <a:solidFill>
                  <a:schemeClr val="bg1"/>
                </a:solidFill>
                <a:highlight>
                  <a:srgbClr val="1E1F20"/>
                </a:highlight>
                <a:ea typeface="Inter"/>
                <a:sym typeface="Inter"/>
              </a:rPr>
              <a:t> </a:t>
            </a:r>
            <a:r>
              <a:rPr lang="en-US" sz="2000" b="1" dirty="0" err="1">
                <a:solidFill>
                  <a:schemeClr val="bg1"/>
                </a:solidFill>
                <a:highlight>
                  <a:srgbClr val="1E1F20"/>
                </a:highlight>
                <a:ea typeface="Inter"/>
                <a:sym typeface="Inter"/>
              </a:rPr>
              <a:t>todo</a:t>
            </a:r>
            <a:r>
              <a:rPr lang="en-US" sz="2000" b="1" dirty="0">
                <a:solidFill>
                  <a:schemeClr val="bg1"/>
                </a:solidFill>
                <a:highlight>
                  <a:srgbClr val="1E1F20"/>
                </a:highlight>
                <a:ea typeface="Inter"/>
                <a:sym typeface="Inter"/>
              </a:rPr>
              <a:t> manual.</a:t>
            </a:r>
            <a:endParaRPr lang="en-US" sz="2000" b="1" dirty="0">
              <a:solidFill>
                <a:schemeClr val="bg1"/>
              </a:solidFill>
              <a:ea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99"/>
        <p:cNvGrpSpPr/>
        <p:nvPr/>
      </p:nvGrpSpPr>
      <p:grpSpPr>
        <a:xfrm>
          <a:off x="0" y="0"/>
          <a:ext cx="0" cy="0"/>
          <a:chOff x="0" y="0"/>
          <a:chExt cx="0" cy="0"/>
        </a:xfrm>
      </p:grpSpPr>
      <p:sp>
        <p:nvSpPr>
          <p:cNvPr id="102" name="Google Shape;102;p15"/>
          <p:cNvSpPr txBox="1"/>
          <p:nvPr/>
        </p:nvSpPr>
        <p:spPr>
          <a:xfrm>
            <a:off x="3454248" y="2231776"/>
            <a:ext cx="53340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El cliente requiere una plataforma </a:t>
            </a:r>
            <a:r>
              <a:rPr lang="en-US" sz="1500" b="1" i="0" u="none" strike="noStrike" cap="none">
                <a:solidFill>
                  <a:srgbClr val="FFFFFF"/>
                </a:solidFill>
                <a:latin typeface="Inter"/>
                <a:ea typeface="Inter"/>
                <a:cs typeface="Inter"/>
                <a:sym typeface="Inter"/>
              </a:rPr>
              <a:t>moderna y escalable</a:t>
            </a:r>
            <a:r>
              <a:rPr lang="en-US" sz="1500" b="0" i="0" u="none" strike="noStrike" cap="none">
                <a:solidFill>
                  <a:srgbClr val="CCCCCC"/>
                </a:solidFill>
                <a:latin typeface="Inter"/>
                <a:ea typeface="Inter"/>
                <a:cs typeface="Inter"/>
                <a:sym typeface="Inter"/>
              </a:rPr>
              <a:t> que resuelva:</a:t>
            </a:r>
            <a:endParaRPr/>
          </a:p>
        </p:txBody>
      </p:sp>
      <p:sp>
        <p:nvSpPr>
          <p:cNvPr id="104" name="Google Shape;104;p15"/>
          <p:cNvSpPr txBox="1"/>
          <p:nvPr/>
        </p:nvSpPr>
        <p:spPr>
          <a:xfrm>
            <a:off x="3454248" y="3031876"/>
            <a:ext cx="5334000" cy="3048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Digitalización de catálogo completo.</a:t>
            </a:r>
            <a:endParaRPr/>
          </a:p>
        </p:txBody>
      </p:sp>
      <p:sp>
        <p:nvSpPr>
          <p:cNvPr id="105" name="Google Shape;105;p15"/>
          <p:cNvSpPr txBox="1"/>
          <p:nvPr/>
        </p:nvSpPr>
        <p:spPr>
          <a:xfrm>
            <a:off x="3454248" y="3479551"/>
            <a:ext cx="5334000" cy="3048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Registro y perfiles de usuario avanzados.</a:t>
            </a:r>
            <a:endParaRPr/>
          </a:p>
        </p:txBody>
      </p:sp>
      <p:sp>
        <p:nvSpPr>
          <p:cNvPr id="106" name="Google Shape;106;p15"/>
          <p:cNvSpPr txBox="1"/>
          <p:nvPr/>
        </p:nvSpPr>
        <p:spPr>
          <a:xfrm>
            <a:off x="3454248" y="3927226"/>
            <a:ext cx="5334000" cy="3048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Gestión dinámica del carrito de compras.</a:t>
            </a:r>
            <a:endParaRPr/>
          </a:p>
        </p:txBody>
      </p:sp>
      <p:sp>
        <p:nvSpPr>
          <p:cNvPr id="107" name="Google Shape;107;p15"/>
          <p:cNvSpPr txBox="1"/>
          <p:nvPr/>
        </p:nvSpPr>
        <p:spPr>
          <a:xfrm>
            <a:off x="3454248" y="4374901"/>
            <a:ext cx="5334000" cy="304800"/>
          </a:xfrm>
          <a:prstGeom prst="rect">
            <a:avLst/>
          </a:prstGeom>
          <a:noFill/>
          <a:ln>
            <a:noFill/>
          </a:ln>
        </p:spPr>
        <p:txBody>
          <a:bodyPr spcFirstLastPara="1" wrap="square" lIns="17145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Inter"/>
                <a:ea typeface="Inter"/>
                <a:cs typeface="Inter"/>
                <a:sym typeface="Inter"/>
              </a:rPr>
              <a:t>Arquitectura lista para alto tráfico.</a:t>
            </a:r>
            <a:endParaRPr/>
          </a:p>
        </p:txBody>
      </p:sp>
      <p:pic>
        <p:nvPicPr>
          <p:cNvPr id="108" name="Google Shape;108;p15" descr="image.png"/>
          <p:cNvPicPr preferRelativeResize="0"/>
          <p:nvPr/>
        </p:nvPicPr>
        <p:blipFill rotWithShape="1">
          <a:blip r:embed="rId3">
            <a:alphaModFix/>
          </a:blip>
          <a:srcRect/>
          <a:stretch/>
        </p:blipFill>
        <p:spPr>
          <a:xfrm>
            <a:off x="3307355" y="3148529"/>
            <a:ext cx="171450" cy="200025"/>
          </a:xfrm>
          <a:prstGeom prst="rect">
            <a:avLst/>
          </a:prstGeom>
          <a:noFill/>
          <a:ln>
            <a:noFill/>
          </a:ln>
        </p:spPr>
      </p:pic>
      <p:pic>
        <p:nvPicPr>
          <p:cNvPr id="109" name="Google Shape;109;p15" descr="image.png"/>
          <p:cNvPicPr preferRelativeResize="0"/>
          <p:nvPr/>
        </p:nvPicPr>
        <p:blipFill rotWithShape="1">
          <a:blip r:embed="rId3">
            <a:alphaModFix/>
          </a:blip>
          <a:srcRect/>
          <a:stretch/>
        </p:blipFill>
        <p:spPr>
          <a:xfrm>
            <a:off x="3307355" y="3596204"/>
            <a:ext cx="171450" cy="200025"/>
          </a:xfrm>
          <a:prstGeom prst="rect">
            <a:avLst/>
          </a:prstGeom>
          <a:noFill/>
          <a:ln>
            <a:noFill/>
          </a:ln>
        </p:spPr>
      </p:pic>
      <p:pic>
        <p:nvPicPr>
          <p:cNvPr id="110" name="Google Shape;110;p15" descr="image.png"/>
          <p:cNvPicPr preferRelativeResize="0"/>
          <p:nvPr/>
        </p:nvPicPr>
        <p:blipFill rotWithShape="1">
          <a:blip r:embed="rId3">
            <a:alphaModFix/>
          </a:blip>
          <a:srcRect/>
          <a:stretch/>
        </p:blipFill>
        <p:spPr>
          <a:xfrm>
            <a:off x="3307355" y="4043879"/>
            <a:ext cx="171450" cy="200025"/>
          </a:xfrm>
          <a:prstGeom prst="rect">
            <a:avLst/>
          </a:prstGeom>
          <a:noFill/>
          <a:ln>
            <a:noFill/>
          </a:ln>
        </p:spPr>
      </p:pic>
      <p:pic>
        <p:nvPicPr>
          <p:cNvPr id="111" name="Google Shape;111;p15" descr="image.png"/>
          <p:cNvPicPr preferRelativeResize="0"/>
          <p:nvPr/>
        </p:nvPicPr>
        <p:blipFill rotWithShape="1">
          <a:blip r:embed="rId3">
            <a:alphaModFix/>
          </a:blip>
          <a:srcRect/>
          <a:stretch/>
        </p:blipFill>
        <p:spPr>
          <a:xfrm>
            <a:off x="3307355" y="4491554"/>
            <a:ext cx="171450" cy="200025"/>
          </a:xfrm>
          <a:prstGeom prst="rect">
            <a:avLst/>
          </a:prstGeom>
          <a:noFill/>
          <a:ln>
            <a:noFill/>
          </a:ln>
        </p:spPr>
      </p:pic>
      <p:sp>
        <p:nvSpPr>
          <p:cNvPr id="112" name="Google Shape;112;p15"/>
          <p:cNvSpPr txBox="1"/>
          <p:nvPr/>
        </p:nvSpPr>
        <p:spPr>
          <a:xfrm>
            <a:off x="174434" y="773476"/>
            <a:ext cx="11401425"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D4FF"/>
                </a:solidFill>
                <a:latin typeface="Urbanist"/>
                <a:ea typeface="Urbanist"/>
                <a:cs typeface="Urbanist"/>
                <a:sym typeface="Urbanist"/>
              </a:rPr>
              <a:t>NECESIDADES DEL CLIENTE</a:t>
            </a:r>
            <a:endParaRPr lang="es-ES"/>
          </a:p>
        </p:txBody>
      </p:sp>
      <p:sp>
        <p:nvSpPr>
          <p:cNvPr id="113" name="Google Shape;113;p15"/>
          <p:cNvSpPr/>
          <p:nvPr/>
        </p:nvSpPr>
        <p:spPr>
          <a:xfrm>
            <a:off x="2930946" y="773476"/>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17"/>
        <p:cNvGrpSpPr/>
        <p:nvPr/>
      </p:nvGrpSpPr>
      <p:grpSpPr>
        <a:xfrm>
          <a:off x="0" y="0"/>
          <a:ext cx="0" cy="0"/>
          <a:chOff x="0" y="0"/>
          <a:chExt cx="0" cy="0"/>
        </a:xfrm>
      </p:grpSpPr>
      <p:sp>
        <p:nvSpPr>
          <p:cNvPr id="119" name="Google Shape;119;p16"/>
          <p:cNvSpPr txBox="1"/>
          <p:nvPr/>
        </p:nvSpPr>
        <p:spPr>
          <a:xfrm>
            <a:off x="295274" y="210837"/>
            <a:ext cx="116014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FFFFFF"/>
                </a:solidFill>
                <a:latin typeface="Urbanist"/>
                <a:ea typeface="Urbanist"/>
                <a:cs typeface="Urbanist"/>
                <a:sym typeface="Urbanist"/>
              </a:rPr>
              <a:t>MODELO RELACIONAL</a:t>
            </a:r>
            <a:endParaRPr dirty="0"/>
          </a:p>
        </p:txBody>
      </p:sp>
      <p:pic>
        <p:nvPicPr>
          <p:cNvPr id="4" name="Imagen 3">
            <a:extLst>
              <a:ext uri="{FF2B5EF4-FFF2-40B4-BE49-F238E27FC236}">
                <a16:creationId xmlns:a16="http://schemas.microsoft.com/office/drawing/2014/main" id="{12CDFA3C-676C-DD28-9074-0CAD5B18B3CD}"/>
              </a:ext>
            </a:extLst>
          </p:cNvPr>
          <p:cNvPicPr>
            <a:picLocks noChangeAspect="1"/>
          </p:cNvPicPr>
          <p:nvPr/>
        </p:nvPicPr>
        <p:blipFill>
          <a:blip r:embed="rId3"/>
          <a:stretch>
            <a:fillRect/>
          </a:stretch>
        </p:blipFill>
        <p:spPr>
          <a:xfrm>
            <a:off x="1769955" y="594805"/>
            <a:ext cx="8652089" cy="6052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24"/>
        <p:cNvGrpSpPr/>
        <p:nvPr/>
      </p:nvGrpSpPr>
      <p:grpSpPr>
        <a:xfrm>
          <a:off x="0" y="0"/>
          <a:ext cx="0" cy="0"/>
          <a:chOff x="0" y="0"/>
          <a:chExt cx="0" cy="0"/>
        </a:xfrm>
      </p:grpSpPr>
      <p:sp>
        <p:nvSpPr>
          <p:cNvPr id="146" name="Google Shape;146;p17"/>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D4FF"/>
                </a:solidFill>
                <a:latin typeface="Urbanist"/>
                <a:ea typeface="Urbanist"/>
                <a:cs typeface="Urbanist"/>
                <a:sym typeface="Urbanist"/>
              </a:rPr>
              <a:t>ENTIDADES Y RELACIONES</a:t>
            </a:r>
            <a:endParaRPr/>
          </a:p>
        </p:txBody>
      </p:sp>
      <p:sp>
        <p:nvSpPr>
          <p:cNvPr id="147" name="Google Shape;147;p17"/>
          <p:cNvSpPr/>
          <p:nvPr/>
        </p:nvSpPr>
        <p:spPr>
          <a:xfrm>
            <a:off x="571500" y="571500"/>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Imagen 3">
            <a:extLst>
              <a:ext uri="{FF2B5EF4-FFF2-40B4-BE49-F238E27FC236}">
                <a16:creationId xmlns:a16="http://schemas.microsoft.com/office/drawing/2014/main" id="{A75CF353-5BEE-2CED-7FF8-EC1C2D249CF3}"/>
              </a:ext>
            </a:extLst>
          </p:cNvPr>
          <p:cNvPicPr>
            <a:picLocks noChangeAspect="1"/>
          </p:cNvPicPr>
          <p:nvPr/>
        </p:nvPicPr>
        <p:blipFill>
          <a:blip r:embed="rId3"/>
          <a:srcRect l="2430" t="2391" r="13492" b="50702"/>
          <a:stretch>
            <a:fillRect/>
          </a:stretch>
        </p:blipFill>
        <p:spPr>
          <a:xfrm>
            <a:off x="628650" y="1215956"/>
            <a:ext cx="10435045" cy="52821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24">
          <a:extLst>
            <a:ext uri="{FF2B5EF4-FFF2-40B4-BE49-F238E27FC236}">
              <a16:creationId xmlns:a16="http://schemas.microsoft.com/office/drawing/2014/main" id="{6D44B671-0C55-C8AB-6ACD-6D0682BA5964}"/>
            </a:ext>
          </a:extLst>
        </p:cNvPr>
        <p:cNvGrpSpPr/>
        <p:nvPr/>
      </p:nvGrpSpPr>
      <p:grpSpPr>
        <a:xfrm>
          <a:off x="0" y="0"/>
          <a:ext cx="0" cy="0"/>
          <a:chOff x="0" y="0"/>
          <a:chExt cx="0" cy="0"/>
        </a:xfrm>
      </p:grpSpPr>
      <p:sp>
        <p:nvSpPr>
          <p:cNvPr id="146" name="Google Shape;146;p17">
            <a:extLst>
              <a:ext uri="{FF2B5EF4-FFF2-40B4-BE49-F238E27FC236}">
                <a16:creationId xmlns:a16="http://schemas.microsoft.com/office/drawing/2014/main" id="{98835AC5-490C-F763-ECF3-EA4B4743A292}"/>
              </a:ext>
            </a:extLst>
          </p:cNvPr>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D4FF"/>
                </a:solidFill>
                <a:latin typeface="Urbanist"/>
                <a:ea typeface="Urbanist"/>
                <a:cs typeface="Urbanist"/>
                <a:sym typeface="Urbanist"/>
              </a:rPr>
              <a:t>ENTIDADES Y RELACIONES</a:t>
            </a:r>
            <a:endParaRPr/>
          </a:p>
        </p:txBody>
      </p:sp>
      <p:sp>
        <p:nvSpPr>
          <p:cNvPr id="147" name="Google Shape;147;p17">
            <a:extLst>
              <a:ext uri="{FF2B5EF4-FFF2-40B4-BE49-F238E27FC236}">
                <a16:creationId xmlns:a16="http://schemas.microsoft.com/office/drawing/2014/main" id="{F9F38355-2E0D-E3BB-8C4A-4ED1423A2D41}"/>
              </a:ext>
            </a:extLst>
          </p:cNvPr>
          <p:cNvSpPr/>
          <p:nvPr/>
        </p:nvSpPr>
        <p:spPr>
          <a:xfrm>
            <a:off x="571500" y="571500"/>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 name="Imagen 5">
            <a:extLst>
              <a:ext uri="{FF2B5EF4-FFF2-40B4-BE49-F238E27FC236}">
                <a16:creationId xmlns:a16="http://schemas.microsoft.com/office/drawing/2014/main" id="{0F60BA69-38EA-97F2-338D-BBAC94ADE88D}"/>
              </a:ext>
            </a:extLst>
          </p:cNvPr>
          <p:cNvPicPr>
            <a:picLocks noChangeAspect="1"/>
          </p:cNvPicPr>
          <p:nvPr/>
        </p:nvPicPr>
        <p:blipFill>
          <a:blip r:embed="rId3"/>
          <a:srcRect l="2388" t="51293" r="14119" b="3235"/>
          <a:stretch>
            <a:fillRect/>
          </a:stretch>
        </p:blipFill>
        <p:spPr>
          <a:xfrm>
            <a:off x="1014984" y="1408176"/>
            <a:ext cx="9893808" cy="4888932"/>
          </a:xfrm>
          <a:prstGeom prst="rect">
            <a:avLst/>
          </a:prstGeom>
        </p:spPr>
      </p:pic>
    </p:spTree>
    <p:extLst>
      <p:ext uri="{BB962C8B-B14F-4D97-AF65-F5344CB8AC3E}">
        <p14:creationId xmlns:p14="http://schemas.microsoft.com/office/powerpoint/2010/main" val="690911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60"/>
        <p:cNvGrpSpPr/>
        <p:nvPr/>
      </p:nvGrpSpPr>
      <p:grpSpPr>
        <a:xfrm>
          <a:off x="0" y="0"/>
          <a:ext cx="0" cy="0"/>
          <a:chOff x="0" y="0"/>
          <a:chExt cx="0" cy="0"/>
        </a:xfrm>
      </p:grpSpPr>
      <p:sp>
        <p:nvSpPr>
          <p:cNvPr id="162" name="Google Shape;162;p19"/>
          <p:cNvSpPr txBox="1"/>
          <p:nvPr/>
        </p:nvSpPr>
        <p:spPr>
          <a:xfrm>
            <a:off x="295275" y="626584"/>
            <a:ext cx="1160145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FFFFFF"/>
                </a:solidFill>
                <a:latin typeface="Urbanist"/>
                <a:ea typeface="Urbanist"/>
                <a:cs typeface="Urbanist"/>
                <a:sym typeface="Urbanist"/>
              </a:rPr>
              <a:t>ARQUITECTURA DE MICROSERVICIOS</a:t>
            </a:r>
            <a:endParaRPr sz="2800" b="1"/>
          </a:p>
        </p:txBody>
      </p:sp>
      <p:sp>
        <p:nvSpPr>
          <p:cNvPr id="163" name="Google Shape;163;p19"/>
          <p:cNvSpPr txBox="1"/>
          <p:nvPr/>
        </p:nvSpPr>
        <p:spPr>
          <a:xfrm>
            <a:off x="571500" y="1457325"/>
            <a:ext cx="11049000" cy="1329595"/>
          </a:xfrm>
          <a:prstGeom prst="rect">
            <a:avLst/>
          </a:prstGeom>
          <a:noFill/>
          <a:ln>
            <a:noFill/>
          </a:ln>
        </p:spPr>
        <p:txBody>
          <a:bodyPr spcFirstLastPara="1" wrap="square" lIns="0" tIns="0" rIns="0" bIns="0" anchor="t" anchorCtr="0">
            <a:spAutoFit/>
          </a:bodyPr>
          <a:lstStyle/>
          <a:p>
            <a:pPr algn="ctr">
              <a:lnSpc>
                <a:spcPct val="160000"/>
              </a:lnSpc>
            </a:pPr>
            <a:r>
              <a:rPr lang="en-US" sz="1800" b="1" dirty="0">
                <a:solidFill>
                  <a:schemeClr val="bg1"/>
                </a:solidFill>
                <a:ea typeface="Inter"/>
                <a:sym typeface="Inter"/>
              </a:rPr>
              <a:t>Nuestra </a:t>
            </a:r>
            <a:r>
              <a:rPr lang="en-US" sz="1800" b="1" dirty="0" err="1">
                <a:solidFill>
                  <a:schemeClr val="bg1"/>
                </a:solidFill>
                <a:ea typeface="Inter"/>
                <a:sym typeface="Inter"/>
              </a:rPr>
              <a:t>arquitectura</a:t>
            </a:r>
            <a:r>
              <a:rPr lang="en-US" sz="1800" b="1" dirty="0">
                <a:solidFill>
                  <a:schemeClr val="bg1"/>
                </a:solidFill>
                <a:ea typeface="Inter"/>
                <a:sym typeface="Inter"/>
              </a:rPr>
              <a:t> </a:t>
            </a:r>
            <a:r>
              <a:rPr lang="en-US" sz="1800" b="1" dirty="0" err="1">
                <a:solidFill>
                  <a:schemeClr val="bg1"/>
                </a:solidFill>
                <a:ea typeface="Inter"/>
                <a:sym typeface="Inter"/>
              </a:rPr>
              <a:t>cuenta</a:t>
            </a:r>
            <a:r>
              <a:rPr lang="en-US" sz="1800" b="1" dirty="0">
                <a:solidFill>
                  <a:schemeClr val="bg1"/>
                </a:solidFill>
                <a:ea typeface="Inter"/>
                <a:sym typeface="Inter"/>
              </a:rPr>
              <a:t> con un backend </a:t>
            </a:r>
            <a:r>
              <a:rPr lang="en-US" sz="1800" b="1" dirty="0" err="1">
                <a:solidFill>
                  <a:schemeClr val="bg1"/>
                </a:solidFill>
                <a:ea typeface="Inter"/>
                <a:sym typeface="Inter"/>
              </a:rPr>
              <a:t>desacoplado</a:t>
            </a:r>
            <a:r>
              <a:rPr lang="en-US" sz="1800" b="1" dirty="0">
                <a:solidFill>
                  <a:schemeClr val="bg1"/>
                </a:solidFill>
                <a:ea typeface="Inter"/>
                <a:sym typeface="Inter"/>
              </a:rPr>
              <a:t>, lo </a:t>
            </a:r>
            <a:r>
              <a:rPr lang="en-US" sz="1800" b="1" dirty="0" err="1">
                <a:solidFill>
                  <a:schemeClr val="bg1"/>
                </a:solidFill>
                <a:ea typeface="Inter"/>
                <a:sym typeface="Inter"/>
              </a:rPr>
              <a:t>que</a:t>
            </a:r>
            <a:r>
              <a:rPr lang="en-US" sz="1800" b="1" dirty="0">
                <a:solidFill>
                  <a:schemeClr val="bg1"/>
                </a:solidFill>
                <a:ea typeface="Inter"/>
                <a:sym typeface="Inter"/>
              </a:rPr>
              <a:t> </a:t>
            </a:r>
            <a:r>
              <a:rPr lang="en-US" sz="1800" b="1" dirty="0" err="1">
                <a:solidFill>
                  <a:schemeClr val="bg1"/>
                </a:solidFill>
                <a:ea typeface="Inter"/>
                <a:sym typeface="Inter"/>
              </a:rPr>
              <a:t>significa</a:t>
            </a:r>
            <a:r>
              <a:rPr lang="en-US" sz="1800" b="1" dirty="0">
                <a:solidFill>
                  <a:schemeClr val="bg1"/>
                </a:solidFill>
                <a:ea typeface="Inter"/>
                <a:sym typeface="Inter"/>
              </a:rPr>
              <a:t> </a:t>
            </a:r>
            <a:r>
              <a:rPr lang="en-US" sz="1800" b="1" dirty="0" err="1">
                <a:solidFill>
                  <a:schemeClr val="bg1"/>
                </a:solidFill>
                <a:ea typeface="Inter"/>
                <a:sym typeface="Inter"/>
              </a:rPr>
              <a:t>que</a:t>
            </a:r>
            <a:r>
              <a:rPr lang="en-US" sz="1800" b="1" dirty="0">
                <a:solidFill>
                  <a:schemeClr val="bg1"/>
                </a:solidFill>
                <a:ea typeface="Inter"/>
                <a:sym typeface="Inter"/>
              </a:rPr>
              <a:t> </a:t>
            </a:r>
            <a:r>
              <a:rPr lang="en-US" sz="1800" b="1" dirty="0" err="1">
                <a:solidFill>
                  <a:schemeClr val="bg1"/>
                </a:solidFill>
                <a:ea typeface="Inter"/>
                <a:sym typeface="Inter"/>
              </a:rPr>
              <a:t>el</a:t>
            </a:r>
            <a:r>
              <a:rPr lang="en-US" sz="1800" b="1" dirty="0">
                <a:solidFill>
                  <a:schemeClr val="bg1"/>
                </a:solidFill>
                <a:ea typeface="Inter"/>
                <a:sym typeface="Inter"/>
              </a:rPr>
              <a:t> </a:t>
            </a:r>
            <a:r>
              <a:rPr lang="en-US" sz="1800" b="1" dirty="0" err="1">
                <a:solidFill>
                  <a:schemeClr val="bg1"/>
                </a:solidFill>
                <a:ea typeface="Inter"/>
                <a:sym typeface="Inter"/>
              </a:rPr>
              <a:t>sistema</a:t>
            </a:r>
            <a:r>
              <a:rPr lang="en-US" sz="1800" b="1" dirty="0">
                <a:solidFill>
                  <a:schemeClr val="bg1"/>
                </a:solidFill>
                <a:ea typeface="Inter"/>
                <a:sym typeface="Inter"/>
              </a:rPr>
              <a:t> se divide </a:t>
            </a:r>
            <a:r>
              <a:rPr lang="en-US" sz="1800" b="1" dirty="0" err="1">
                <a:solidFill>
                  <a:schemeClr val="bg1"/>
                </a:solidFill>
                <a:ea typeface="Inter"/>
                <a:sym typeface="Inter"/>
              </a:rPr>
              <a:t>en</a:t>
            </a:r>
            <a:r>
              <a:rPr lang="en-US" sz="1800" b="1" dirty="0">
                <a:solidFill>
                  <a:schemeClr val="bg1"/>
                </a:solidFill>
                <a:ea typeface="Inter"/>
                <a:sym typeface="Inter"/>
              </a:rPr>
              <a:t> </a:t>
            </a:r>
            <a:r>
              <a:rPr lang="en-US" sz="1800" b="1" dirty="0" err="1">
                <a:solidFill>
                  <a:schemeClr val="bg1"/>
                </a:solidFill>
                <a:ea typeface="Inter"/>
                <a:sym typeface="Inter"/>
              </a:rPr>
              <a:t>microservicios</a:t>
            </a:r>
            <a:r>
              <a:rPr lang="en-US" sz="1800" b="1" dirty="0">
                <a:solidFill>
                  <a:schemeClr val="bg1"/>
                </a:solidFill>
                <a:ea typeface="Inter"/>
                <a:sym typeface="Inter"/>
              </a:rPr>
              <a:t> </a:t>
            </a:r>
            <a:r>
              <a:rPr lang="en-US" sz="1800" b="1" dirty="0" err="1">
                <a:solidFill>
                  <a:schemeClr val="bg1"/>
                </a:solidFill>
                <a:ea typeface="Inter"/>
                <a:sym typeface="Inter"/>
              </a:rPr>
              <a:t>independientes</a:t>
            </a:r>
            <a:r>
              <a:rPr lang="en-US" sz="1800" b="1" dirty="0">
                <a:solidFill>
                  <a:schemeClr val="bg1"/>
                </a:solidFill>
                <a:ea typeface="Inter"/>
                <a:sym typeface="Inter"/>
              </a:rPr>
              <a:t> </a:t>
            </a:r>
            <a:r>
              <a:rPr lang="en-US" sz="1800" b="1" dirty="0" err="1">
                <a:solidFill>
                  <a:schemeClr val="bg1"/>
                </a:solidFill>
                <a:ea typeface="Inter"/>
                <a:sym typeface="Inter"/>
              </a:rPr>
              <a:t>especializados</a:t>
            </a:r>
            <a:r>
              <a:rPr lang="en-US" sz="1800" b="1" dirty="0">
                <a:solidFill>
                  <a:schemeClr val="bg1"/>
                </a:solidFill>
                <a:ea typeface="Inter"/>
                <a:sym typeface="Inter"/>
              </a:rPr>
              <a:t> </a:t>
            </a:r>
            <a:r>
              <a:rPr lang="en-US" sz="1800" b="1" dirty="0" err="1">
                <a:solidFill>
                  <a:schemeClr val="bg1"/>
                </a:solidFill>
                <a:ea typeface="Inter"/>
                <a:sym typeface="Inter"/>
              </a:rPr>
              <a:t>en</a:t>
            </a:r>
            <a:r>
              <a:rPr lang="en-US" sz="1800" b="1" dirty="0">
                <a:solidFill>
                  <a:schemeClr val="bg1"/>
                </a:solidFill>
                <a:ea typeface="Inter"/>
                <a:sym typeface="Inter"/>
              </a:rPr>
              <a:t> </a:t>
            </a:r>
            <a:r>
              <a:rPr lang="en-US" sz="1800" b="1" dirty="0" err="1">
                <a:solidFill>
                  <a:schemeClr val="bg1"/>
                </a:solidFill>
                <a:ea typeface="Inter"/>
                <a:sym typeface="Inter"/>
              </a:rPr>
              <a:t>procesos</a:t>
            </a:r>
            <a:r>
              <a:rPr lang="en-US" sz="1800" b="1" dirty="0">
                <a:solidFill>
                  <a:schemeClr val="bg1"/>
                </a:solidFill>
                <a:ea typeface="Inter"/>
                <a:sym typeface="Inter"/>
              </a:rPr>
              <a:t> reales del </a:t>
            </a:r>
            <a:r>
              <a:rPr lang="en-US" sz="1800" b="1" dirty="0" err="1">
                <a:solidFill>
                  <a:schemeClr val="bg1"/>
                </a:solidFill>
                <a:ea typeface="Inter"/>
                <a:sym typeface="Inter"/>
              </a:rPr>
              <a:t>negocio</a:t>
            </a:r>
            <a:r>
              <a:rPr lang="en-US" sz="1800" b="1" dirty="0">
                <a:solidFill>
                  <a:schemeClr val="bg1"/>
                </a:solidFill>
                <a:ea typeface="Inter"/>
                <a:sym typeface="Inter"/>
              </a:rPr>
              <a:t>. Esto </a:t>
            </a:r>
            <a:r>
              <a:rPr lang="en-US" sz="1800" b="1" dirty="0" err="1">
                <a:solidFill>
                  <a:schemeClr val="bg1"/>
                </a:solidFill>
                <a:ea typeface="Inter"/>
                <a:sym typeface="Inter"/>
              </a:rPr>
              <a:t>aísla</a:t>
            </a:r>
            <a:r>
              <a:rPr lang="en-US" sz="1800" b="1" dirty="0">
                <a:solidFill>
                  <a:schemeClr val="bg1"/>
                </a:solidFill>
                <a:ea typeface="Inter"/>
                <a:sym typeface="Inter"/>
              </a:rPr>
              <a:t> </a:t>
            </a:r>
            <a:r>
              <a:rPr lang="en-US" sz="1800" b="1" dirty="0" err="1">
                <a:solidFill>
                  <a:schemeClr val="bg1"/>
                </a:solidFill>
                <a:ea typeface="Inter"/>
                <a:sym typeface="Inter"/>
              </a:rPr>
              <a:t>los</a:t>
            </a:r>
            <a:r>
              <a:rPr lang="en-US" sz="1800" b="1" dirty="0">
                <a:solidFill>
                  <a:schemeClr val="bg1"/>
                </a:solidFill>
                <a:ea typeface="Inter"/>
                <a:sym typeface="Inter"/>
              </a:rPr>
              <a:t> </a:t>
            </a:r>
            <a:r>
              <a:rPr lang="en-US" sz="1800" b="1" dirty="0" err="1">
                <a:solidFill>
                  <a:schemeClr val="bg1"/>
                </a:solidFill>
                <a:ea typeface="Inter"/>
                <a:sym typeface="Inter"/>
              </a:rPr>
              <a:t>fallos</a:t>
            </a:r>
            <a:r>
              <a:rPr lang="en-US" sz="1800" b="1" dirty="0">
                <a:solidFill>
                  <a:schemeClr val="bg1"/>
                </a:solidFill>
                <a:ea typeface="Inter"/>
                <a:sym typeface="Inter"/>
              </a:rPr>
              <a:t> de forma modular, </a:t>
            </a:r>
            <a:r>
              <a:rPr lang="en-US" sz="1800" b="1" dirty="0" err="1">
                <a:solidFill>
                  <a:schemeClr val="bg1"/>
                </a:solidFill>
                <a:ea typeface="Inter"/>
                <a:sym typeface="Inter"/>
              </a:rPr>
              <a:t>permite</a:t>
            </a:r>
            <a:r>
              <a:rPr lang="en-US" sz="1800" b="1" dirty="0">
                <a:solidFill>
                  <a:schemeClr val="bg1"/>
                </a:solidFill>
                <a:ea typeface="Inter"/>
                <a:sym typeface="Inter"/>
              </a:rPr>
              <a:t> </a:t>
            </a:r>
            <a:r>
              <a:rPr lang="en-US" sz="1800" b="1" dirty="0" err="1">
                <a:solidFill>
                  <a:schemeClr val="bg1"/>
                </a:solidFill>
                <a:ea typeface="Inter"/>
                <a:sym typeface="Inter"/>
              </a:rPr>
              <a:t>escalar</a:t>
            </a:r>
            <a:r>
              <a:rPr lang="en-US" sz="1800" b="1" dirty="0">
                <a:solidFill>
                  <a:schemeClr val="bg1"/>
                </a:solidFill>
                <a:ea typeface="Inter"/>
                <a:sym typeface="Inter"/>
              </a:rPr>
              <a:t> </a:t>
            </a:r>
            <a:r>
              <a:rPr lang="en-US" sz="1800" b="1" dirty="0" err="1">
                <a:solidFill>
                  <a:schemeClr val="bg1"/>
                </a:solidFill>
                <a:ea typeface="Inter"/>
                <a:sym typeface="Inter"/>
              </a:rPr>
              <a:t>cada</a:t>
            </a:r>
            <a:r>
              <a:rPr lang="en-US" sz="1800" b="1" dirty="0">
                <a:solidFill>
                  <a:schemeClr val="bg1"/>
                </a:solidFill>
                <a:ea typeface="Inter"/>
                <a:sym typeface="Inter"/>
              </a:rPr>
              <a:t> </a:t>
            </a:r>
            <a:r>
              <a:rPr lang="en-US" sz="1800" b="1" dirty="0" err="1">
                <a:solidFill>
                  <a:schemeClr val="bg1"/>
                </a:solidFill>
                <a:ea typeface="Inter"/>
                <a:sym typeface="Inter"/>
              </a:rPr>
              <a:t>componente</a:t>
            </a:r>
            <a:r>
              <a:rPr lang="en-US" sz="1800" b="1" dirty="0">
                <a:solidFill>
                  <a:schemeClr val="bg1"/>
                </a:solidFill>
                <a:ea typeface="Inter"/>
                <a:sym typeface="Inter"/>
              </a:rPr>
              <a:t> </a:t>
            </a:r>
            <a:r>
              <a:rPr lang="en-US" sz="1800" b="1" dirty="0" err="1">
                <a:solidFill>
                  <a:schemeClr val="bg1"/>
                </a:solidFill>
                <a:ea typeface="Inter"/>
                <a:sym typeface="Inter"/>
              </a:rPr>
              <a:t>por</a:t>
            </a:r>
            <a:r>
              <a:rPr lang="en-US" sz="1800" b="1" dirty="0">
                <a:solidFill>
                  <a:schemeClr val="bg1"/>
                </a:solidFill>
                <a:ea typeface="Inter"/>
                <a:sym typeface="Inter"/>
              </a:rPr>
              <a:t> </a:t>
            </a:r>
            <a:r>
              <a:rPr lang="en-US" sz="1800" b="1" dirty="0" err="1">
                <a:solidFill>
                  <a:schemeClr val="bg1"/>
                </a:solidFill>
                <a:ea typeface="Inter"/>
                <a:sym typeface="Inter"/>
              </a:rPr>
              <a:t>separado</a:t>
            </a:r>
            <a:r>
              <a:rPr lang="en-US" sz="1800" b="1" dirty="0">
                <a:solidFill>
                  <a:schemeClr val="bg1"/>
                </a:solidFill>
                <a:ea typeface="Inter"/>
                <a:sym typeface="Inter"/>
              </a:rPr>
              <a:t>.</a:t>
            </a:r>
            <a:endParaRPr lang="en-US" sz="1800" b="1" dirty="0">
              <a:solidFill>
                <a:schemeClr val="bg1"/>
              </a:solidFill>
              <a:ea typeface="Inter"/>
            </a:endParaRPr>
          </a:p>
        </p:txBody>
      </p:sp>
      <p:sp>
        <p:nvSpPr>
          <p:cNvPr id="2" name="CuadroTexto 1">
            <a:extLst>
              <a:ext uri="{FF2B5EF4-FFF2-40B4-BE49-F238E27FC236}">
                <a16:creationId xmlns:a16="http://schemas.microsoft.com/office/drawing/2014/main" id="{B70AE46B-BCCA-DD9E-CA50-7779337E47C2}"/>
              </a:ext>
            </a:extLst>
          </p:cNvPr>
          <p:cNvSpPr txBox="1"/>
          <p:nvPr/>
        </p:nvSpPr>
        <p:spPr>
          <a:xfrm>
            <a:off x="2614693" y="3189938"/>
            <a:ext cx="730797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s-ES" sz="1800" b="1">
                <a:solidFill>
                  <a:srgbClr val="FFFFFF"/>
                </a:solidFill>
              </a:rPr>
              <a:t>¿Por qué Desacoplado?</a:t>
            </a:r>
            <a:r>
              <a:rPr lang="es-ES" sz="1800">
                <a:solidFill>
                  <a:srgbClr val="FFFFFF"/>
                </a:solidFill>
              </a:rPr>
              <a:t> Porque cada microservicio tiene su propia lógica y base de datos. Esto garantiza independencia tecnológica, desarrollo en paralelo y alta tolerancia a fallos.</a:t>
            </a:r>
          </a:p>
          <a:p>
            <a:pPr marL="285750" indent="-285750">
              <a:buChar char="•"/>
            </a:pPr>
            <a:endParaRPr lang="es-ES" sz="1800" b="1" dirty="0">
              <a:solidFill>
                <a:srgbClr val="FFFFFF"/>
              </a:solidFill>
            </a:endParaRPr>
          </a:p>
          <a:p>
            <a:pPr marL="285750" indent="-285750">
              <a:buChar char="•"/>
            </a:pPr>
            <a:r>
              <a:rPr lang="es-ES" sz="1800" b="1">
                <a:solidFill>
                  <a:srgbClr val="FFFFFF"/>
                </a:solidFill>
              </a:rPr>
              <a:t>¿Por qué Orientado al Dominio?</a:t>
            </a:r>
            <a:r>
              <a:rPr lang="es-ES" sz="1800">
                <a:solidFill>
                  <a:srgbClr val="FFFFFF"/>
                </a:solidFill>
              </a:rPr>
              <a:t> Porque las fronteras del software corresponden exactamente a las áreas del negocio de calzado, asegurando que el sistema sea evolutivo, escalable y fácil de comprender por cualquier desarrollador.</a:t>
            </a:r>
            <a:endParaRPr lang="es-ES"/>
          </a:p>
          <a:p>
            <a:pPr algn="l"/>
            <a:endParaRPr lang="es-ES" sz="1800"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60">
          <a:extLst>
            <a:ext uri="{FF2B5EF4-FFF2-40B4-BE49-F238E27FC236}">
              <a16:creationId xmlns:a16="http://schemas.microsoft.com/office/drawing/2014/main" id="{3410516B-E5BF-0F48-7240-4F96053DF3BA}"/>
            </a:ext>
          </a:extLst>
        </p:cNvPr>
        <p:cNvGrpSpPr/>
        <p:nvPr/>
      </p:nvGrpSpPr>
      <p:grpSpPr>
        <a:xfrm>
          <a:off x="0" y="0"/>
          <a:ext cx="0" cy="0"/>
          <a:chOff x="0" y="0"/>
          <a:chExt cx="0" cy="0"/>
        </a:xfrm>
      </p:grpSpPr>
      <p:sp>
        <p:nvSpPr>
          <p:cNvPr id="162" name="Google Shape;162;p19">
            <a:extLst>
              <a:ext uri="{FF2B5EF4-FFF2-40B4-BE49-F238E27FC236}">
                <a16:creationId xmlns:a16="http://schemas.microsoft.com/office/drawing/2014/main" id="{F939B0CC-D12A-CEA2-0DD2-EFE8ACD31164}"/>
              </a:ext>
            </a:extLst>
          </p:cNvPr>
          <p:cNvSpPr txBox="1"/>
          <p:nvPr/>
        </p:nvSpPr>
        <p:spPr>
          <a:xfrm>
            <a:off x="148970" y="122659"/>
            <a:ext cx="11601450"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a:solidFill>
                  <a:srgbClr val="FFFFFF"/>
                </a:solidFill>
                <a:latin typeface="Urbanist"/>
                <a:ea typeface="Urbanist"/>
                <a:cs typeface="Urbanist"/>
                <a:sym typeface="Urbanist"/>
              </a:rPr>
              <a:t>ARQUITECTURA DE MICROSERVICIOS</a:t>
            </a:r>
            <a:endParaRPr lang="en-US" sz="2800" b="1" dirty="0">
              <a:solidFill>
                <a:srgbClr val="FFFFFF"/>
              </a:solidFill>
              <a:latin typeface="Urbanist"/>
              <a:ea typeface="Urbanist"/>
              <a:cs typeface="Urbanist"/>
              <a:sym typeface="Urbanist"/>
            </a:endParaRPr>
          </a:p>
        </p:txBody>
      </p:sp>
      <p:pic>
        <p:nvPicPr>
          <p:cNvPr id="6" name="Imagen 5">
            <a:extLst>
              <a:ext uri="{FF2B5EF4-FFF2-40B4-BE49-F238E27FC236}">
                <a16:creationId xmlns:a16="http://schemas.microsoft.com/office/drawing/2014/main" id="{35EF70DE-B046-960B-564D-CF3A1DC9FA7C}"/>
              </a:ext>
            </a:extLst>
          </p:cNvPr>
          <p:cNvPicPr>
            <a:picLocks noChangeAspect="1"/>
          </p:cNvPicPr>
          <p:nvPr/>
        </p:nvPicPr>
        <p:blipFill>
          <a:blip r:embed="rId3"/>
          <a:stretch>
            <a:fillRect/>
          </a:stretch>
        </p:blipFill>
        <p:spPr>
          <a:xfrm>
            <a:off x="1499292" y="858722"/>
            <a:ext cx="9226620" cy="5628317"/>
          </a:xfrm>
          <a:prstGeom prst="rect">
            <a:avLst/>
          </a:prstGeom>
        </p:spPr>
      </p:pic>
      <p:sp>
        <p:nvSpPr>
          <p:cNvPr id="7" name="CuadroTexto 6">
            <a:extLst>
              <a:ext uri="{FF2B5EF4-FFF2-40B4-BE49-F238E27FC236}">
                <a16:creationId xmlns:a16="http://schemas.microsoft.com/office/drawing/2014/main" id="{71A524BD-7A6A-B3AE-239E-E80541233D71}"/>
              </a:ext>
            </a:extLst>
          </p:cNvPr>
          <p:cNvSpPr txBox="1"/>
          <p:nvPr/>
        </p:nvSpPr>
        <p:spPr>
          <a:xfrm>
            <a:off x="2775042" y="519275"/>
            <a:ext cx="6675120" cy="307777"/>
          </a:xfrm>
          <a:prstGeom prst="rect">
            <a:avLst/>
          </a:prstGeom>
          <a:noFill/>
        </p:spPr>
        <p:txBody>
          <a:bodyPr wrap="square" rtlCol="0">
            <a:spAutoFit/>
          </a:bodyPr>
          <a:lstStyle/>
          <a:p>
            <a:r>
              <a:rPr lang="es-MX" dirty="0">
                <a:solidFill>
                  <a:schemeClr val="bg1"/>
                </a:solidFill>
              </a:rPr>
              <a:t>(Modelo realizado con </a:t>
            </a:r>
            <a:r>
              <a:rPr lang="es-MX" dirty="0" err="1">
                <a:solidFill>
                  <a:schemeClr val="bg1"/>
                </a:solidFill>
              </a:rPr>
              <a:t>ia</a:t>
            </a:r>
            <a:r>
              <a:rPr lang="es-MX" dirty="0">
                <a:solidFill>
                  <a:schemeClr val="bg1"/>
                </a:solidFill>
              </a:rPr>
              <a:t> en base a el proyecto creado por el grupo de trabajo)</a:t>
            </a:r>
            <a:r>
              <a:rPr lang="es-MX" dirty="0"/>
              <a:t>o</a:t>
            </a:r>
            <a:endParaRPr lang="es-CL" dirty="0"/>
          </a:p>
        </p:txBody>
      </p:sp>
    </p:spTree>
    <p:extLst>
      <p:ext uri="{BB962C8B-B14F-4D97-AF65-F5344CB8AC3E}">
        <p14:creationId xmlns:p14="http://schemas.microsoft.com/office/powerpoint/2010/main" val="2119957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67"/>
        <p:cNvGrpSpPr/>
        <p:nvPr/>
      </p:nvGrpSpPr>
      <p:grpSpPr>
        <a:xfrm>
          <a:off x="0" y="0"/>
          <a:ext cx="0" cy="0"/>
          <a:chOff x="0" y="0"/>
          <a:chExt cx="0" cy="0"/>
        </a:xfrm>
      </p:grpSpPr>
      <p:sp>
        <p:nvSpPr>
          <p:cNvPr id="193" name="Google Shape;193;p20"/>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D4FF"/>
                </a:solidFill>
                <a:latin typeface="Urbanist"/>
                <a:ea typeface="Urbanist"/>
                <a:cs typeface="Urbanist"/>
                <a:sym typeface="Urbanist"/>
              </a:rPr>
              <a:t>LOS </a:t>
            </a:r>
            <a:r>
              <a:rPr lang="en-US" sz="3600" b="1" dirty="0">
                <a:solidFill>
                  <a:srgbClr val="00D4FF"/>
                </a:solidFill>
                <a:latin typeface="Urbanist"/>
                <a:ea typeface="Urbanist"/>
                <a:cs typeface="Urbanist"/>
                <a:sym typeface="Urbanist"/>
              </a:rPr>
              <a:t>10</a:t>
            </a:r>
            <a:r>
              <a:rPr lang="en-US" sz="3600" b="1" i="0" u="none" strike="noStrike" cap="none" dirty="0">
                <a:solidFill>
                  <a:srgbClr val="00D4FF"/>
                </a:solidFill>
                <a:latin typeface="Urbanist"/>
                <a:ea typeface="Urbanist"/>
                <a:cs typeface="Urbanist"/>
                <a:sym typeface="Urbanist"/>
              </a:rPr>
              <a:t> MICROSERVICIOS CORE</a:t>
            </a:r>
            <a:endParaRPr dirty="0"/>
          </a:p>
        </p:txBody>
      </p:sp>
      <p:sp>
        <p:nvSpPr>
          <p:cNvPr id="194" name="Google Shape;194;p20"/>
          <p:cNvSpPr/>
          <p:nvPr/>
        </p:nvSpPr>
        <p:spPr>
          <a:xfrm>
            <a:off x="571500" y="571500"/>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88780A1A-4A26-35B2-278F-2C8B6F8569DE}"/>
              </a:ext>
            </a:extLst>
          </p:cNvPr>
          <p:cNvSpPr txBox="1"/>
          <p:nvPr/>
        </p:nvSpPr>
        <p:spPr>
          <a:xfrm>
            <a:off x="759704" y="1470486"/>
            <a:ext cx="9122980" cy="46166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s-ES" b="1" dirty="0">
                <a:solidFill>
                  <a:schemeClr val="bg1"/>
                </a:solidFill>
              </a:rPr>
              <a:t>API Gateway:</a:t>
            </a:r>
            <a:r>
              <a:rPr lang="es-ES" dirty="0">
                <a:solidFill>
                  <a:schemeClr val="bg1"/>
                </a:solidFill>
              </a:rPr>
              <a:t> Punto de entrada único del sistema. Se encarga del enrutamiento centralizado de las peticiones externas hacia los microservicios correspondientes y de la seguridad de las rutas.</a:t>
            </a:r>
          </a:p>
          <a:p>
            <a:pPr marL="285750" indent="-285750">
              <a:buChar char="•"/>
            </a:pPr>
            <a:endParaRPr lang="es-ES" b="1" dirty="0">
              <a:solidFill>
                <a:schemeClr val="bg1"/>
              </a:solidFill>
            </a:endParaRPr>
          </a:p>
          <a:p>
            <a:pPr marL="285750" indent="-285750">
              <a:buChar char="•"/>
            </a:pPr>
            <a:r>
              <a:rPr lang="es-ES" b="1" dirty="0">
                <a:solidFill>
                  <a:schemeClr val="bg1"/>
                </a:solidFill>
              </a:rPr>
              <a:t>Service-Usuarios:</a:t>
            </a:r>
            <a:r>
              <a:rPr lang="es-ES" dirty="0">
                <a:solidFill>
                  <a:schemeClr val="bg1"/>
                </a:solidFill>
              </a:rPr>
              <a:t> Gestiona el ciclo de vida de los usuarios (Usuario), sus credenciales de acceso y roles (</a:t>
            </a:r>
            <a:r>
              <a:rPr lang="es-ES" dirty="0" err="1">
                <a:solidFill>
                  <a:schemeClr val="bg1"/>
                </a:solidFill>
              </a:rPr>
              <a:t>TipoRol</a:t>
            </a:r>
            <a:r>
              <a:rPr lang="es-ES" dirty="0">
                <a:solidFill>
                  <a:schemeClr val="bg1"/>
                </a:solidFill>
              </a:rPr>
              <a:t>). Además, maneja la localización mediante una relación uno a uno con la entidad </a:t>
            </a:r>
            <a:r>
              <a:rPr lang="es-ES" dirty="0" err="1">
                <a:solidFill>
                  <a:schemeClr val="bg1"/>
                </a:solidFill>
              </a:rPr>
              <a:t>Direccion</a:t>
            </a:r>
            <a:r>
              <a:rPr lang="es-ES" dirty="0">
                <a:solidFill>
                  <a:schemeClr val="bg1"/>
                </a:solidFill>
              </a:rPr>
              <a:t>.</a:t>
            </a:r>
          </a:p>
          <a:p>
            <a:pPr marL="285750" indent="-285750">
              <a:buChar char="•"/>
            </a:pPr>
            <a:endParaRPr lang="es-ES" b="1" dirty="0">
              <a:solidFill>
                <a:schemeClr val="bg1"/>
              </a:solidFill>
            </a:endParaRPr>
          </a:p>
          <a:p>
            <a:pPr marL="285750" indent="-285750">
              <a:buChar char="•"/>
            </a:pPr>
            <a:r>
              <a:rPr lang="es-ES" b="1" dirty="0">
                <a:solidFill>
                  <a:schemeClr val="bg1"/>
                </a:solidFill>
              </a:rPr>
              <a:t>Service-Zapatillas:</a:t>
            </a:r>
            <a:r>
              <a:rPr lang="es-ES" dirty="0">
                <a:solidFill>
                  <a:schemeClr val="bg1"/>
                </a:solidFill>
              </a:rPr>
              <a:t> Administra el catálogo de productos (Zapatilla), controlando atributos clave como el precio, estado y stock disponible. Se vincula con la entidad Marca para categorizar el calzado.</a:t>
            </a:r>
          </a:p>
          <a:p>
            <a:pPr marL="285750" indent="-285750">
              <a:buChar char="•"/>
            </a:pPr>
            <a:endParaRPr lang="es-ES" b="1" dirty="0">
              <a:solidFill>
                <a:schemeClr val="bg1"/>
              </a:solidFill>
            </a:endParaRPr>
          </a:p>
          <a:p>
            <a:pPr marL="285750" indent="-285750">
              <a:buChar char="•"/>
            </a:pPr>
            <a:r>
              <a:rPr lang="es-ES" b="1" dirty="0">
                <a:solidFill>
                  <a:schemeClr val="bg1"/>
                </a:solidFill>
              </a:rPr>
              <a:t>Service-Pedidos:</a:t>
            </a:r>
            <a:r>
              <a:rPr lang="es-ES" dirty="0">
                <a:solidFill>
                  <a:schemeClr val="bg1"/>
                </a:solidFill>
              </a:rPr>
              <a:t> El núcleo transaccional del sistema. Registra la cabecera del pedido (Pedido) y contiene una lista incrustada (List&lt;</a:t>
            </a:r>
            <a:r>
              <a:rPr lang="es-ES" dirty="0" err="1">
                <a:solidFill>
                  <a:schemeClr val="bg1"/>
                </a:solidFill>
              </a:rPr>
              <a:t>DetallePedido</a:t>
            </a:r>
            <a:r>
              <a:rPr lang="es-ES" dirty="0">
                <a:solidFill>
                  <a:schemeClr val="bg1"/>
                </a:solidFill>
              </a:rPr>
              <a:t>&gt;) para almacenar de forma acoplada la cantidad, subtotal y el identificador de cada zapatilla.</a:t>
            </a:r>
          </a:p>
          <a:p>
            <a:pPr marL="285750" indent="-285750">
              <a:buChar char="•"/>
            </a:pPr>
            <a:endParaRPr lang="es-ES" b="1" dirty="0">
              <a:solidFill>
                <a:schemeClr val="bg1"/>
              </a:solidFill>
            </a:endParaRPr>
          </a:p>
          <a:p>
            <a:pPr marL="285750" indent="-285750">
              <a:buChar char="•"/>
            </a:pPr>
            <a:r>
              <a:rPr lang="es-ES" b="1" dirty="0">
                <a:solidFill>
                  <a:schemeClr val="bg1"/>
                </a:solidFill>
              </a:rPr>
              <a:t>Service-Pagos:</a:t>
            </a:r>
            <a:r>
              <a:rPr lang="es-ES" dirty="0">
                <a:solidFill>
                  <a:schemeClr val="bg1"/>
                </a:solidFill>
              </a:rPr>
              <a:t> Se encarga de procesar las transacciones financieras (Pago). Registra el monto, la fecha, el método utilizado (ej. Webpay, transferencia) y el estado del pago (aprobado/rechazado), vinculándose directamente a un </a:t>
            </a:r>
            <a:r>
              <a:rPr lang="es-ES" dirty="0" err="1">
                <a:solidFill>
                  <a:schemeClr val="bg1"/>
                </a:solidFill>
              </a:rPr>
              <a:t>pedidoId</a:t>
            </a:r>
            <a:r>
              <a:rPr lang="es-ES" dirty="0">
                <a:solidFill>
                  <a:schemeClr val="bg1"/>
                </a:solidFill>
              </a:rPr>
              <a:t>.</a:t>
            </a:r>
          </a:p>
          <a:p>
            <a:pPr marL="285750" indent="-285750">
              <a:buChar char="•"/>
            </a:pPr>
            <a:endParaRPr lang="es-ES" b="1" dirty="0">
              <a:solidFill>
                <a:schemeClr val="bg1"/>
              </a:solidFill>
            </a:endParaRPr>
          </a:p>
          <a:p>
            <a:pPr marL="285750" indent="-285750">
              <a:buChar char="•"/>
            </a:pPr>
            <a:r>
              <a:rPr lang="es-ES" b="1" dirty="0">
                <a:solidFill>
                  <a:schemeClr val="bg1"/>
                </a:solidFill>
              </a:rPr>
              <a:t>Service-</a:t>
            </a:r>
            <a:r>
              <a:rPr lang="es-ES" b="1" dirty="0" err="1">
                <a:solidFill>
                  <a:schemeClr val="bg1"/>
                </a:solidFill>
              </a:rPr>
              <a:t>Envios</a:t>
            </a:r>
            <a:r>
              <a:rPr lang="es-ES" b="1" dirty="0">
                <a:solidFill>
                  <a:schemeClr val="bg1"/>
                </a:solidFill>
              </a:rPr>
              <a:t>:</a:t>
            </a:r>
            <a:r>
              <a:rPr lang="es-ES" dirty="0">
                <a:solidFill>
                  <a:schemeClr val="bg1"/>
                </a:solidFill>
              </a:rPr>
              <a:t> Gestiona la logística de distribución de los productos (</a:t>
            </a:r>
            <a:r>
              <a:rPr lang="es-ES" dirty="0" err="1">
                <a:solidFill>
                  <a:schemeClr val="bg1"/>
                </a:solidFill>
              </a:rPr>
              <a:t>Envio</a:t>
            </a:r>
            <a:r>
              <a:rPr lang="es-ES" dirty="0">
                <a:solidFill>
                  <a:schemeClr val="bg1"/>
                </a:solidFill>
              </a:rPr>
              <a:t>). Almacena la dirección de entrega, la empresa de </a:t>
            </a:r>
            <a:r>
              <a:rPr lang="es-ES" dirty="0" err="1">
                <a:solidFill>
                  <a:schemeClr val="bg1"/>
                </a:solidFill>
              </a:rPr>
              <a:t>courier</a:t>
            </a:r>
            <a:r>
              <a:rPr lang="es-ES" dirty="0">
                <a:solidFill>
                  <a:schemeClr val="bg1"/>
                </a:solidFill>
              </a:rPr>
              <a:t> asignada (ej. Starken, Chilexpress) y realiza el seguimiento del estado del paquete.</a:t>
            </a:r>
          </a:p>
          <a:p>
            <a:pPr algn="l"/>
            <a:endParaRPr lang="es-ES"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67">
          <a:extLst>
            <a:ext uri="{FF2B5EF4-FFF2-40B4-BE49-F238E27FC236}">
              <a16:creationId xmlns:a16="http://schemas.microsoft.com/office/drawing/2014/main" id="{E46BF2EC-A9CA-FE3C-4A64-681DCD61A248}"/>
            </a:ext>
          </a:extLst>
        </p:cNvPr>
        <p:cNvGrpSpPr/>
        <p:nvPr/>
      </p:nvGrpSpPr>
      <p:grpSpPr>
        <a:xfrm>
          <a:off x="0" y="0"/>
          <a:ext cx="0" cy="0"/>
          <a:chOff x="0" y="0"/>
          <a:chExt cx="0" cy="0"/>
        </a:xfrm>
      </p:grpSpPr>
      <p:sp>
        <p:nvSpPr>
          <p:cNvPr id="193" name="Google Shape;193;p20">
            <a:extLst>
              <a:ext uri="{FF2B5EF4-FFF2-40B4-BE49-F238E27FC236}">
                <a16:creationId xmlns:a16="http://schemas.microsoft.com/office/drawing/2014/main" id="{30D38788-945B-72E1-5F88-5146169AD0A0}"/>
              </a:ext>
            </a:extLst>
          </p:cNvPr>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D4FF"/>
                </a:solidFill>
                <a:effectLst/>
                <a:uLnTx/>
                <a:uFillTx/>
                <a:latin typeface="Urbanist"/>
                <a:ea typeface="Urbanist"/>
                <a:cs typeface="Urbanist"/>
                <a:sym typeface="Urbanist"/>
              </a:rPr>
              <a:t>LOS 10 MICROSERVICIOS CORE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4" name="Google Shape;194;p20">
            <a:extLst>
              <a:ext uri="{FF2B5EF4-FFF2-40B4-BE49-F238E27FC236}">
                <a16:creationId xmlns:a16="http://schemas.microsoft.com/office/drawing/2014/main" id="{396095AD-F29B-39B8-902E-F9963CAFA9CF}"/>
              </a:ext>
            </a:extLst>
          </p:cNvPr>
          <p:cNvSpPr/>
          <p:nvPr/>
        </p:nvSpPr>
        <p:spPr>
          <a:xfrm>
            <a:off x="571500" y="571500"/>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CuadroTexto 3">
            <a:extLst>
              <a:ext uri="{FF2B5EF4-FFF2-40B4-BE49-F238E27FC236}">
                <a16:creationId xmlns:a16="http://schemas.microsoft.com/office/drawing/2014/main" id="{145DC111-B0EE-262B-43F2-093D3698D1DF}"/>
              </a:ext>
            </a:extLst>
          </p:cNvPr>
          <p:cNvSpPr txBox="1"/>
          <p:nvPr/>
        </p:nvSpPr>
        <p:spPr>
          <a:xfrm>
            <a:off x="301752" y="1298448"/>
            <a:ext cx="11243310" cy="5262979"/>
          </a:xfrm>
          <a:prstGeom prst="rect">
            <a:avLst/>
          </a:prstGeom>
          <a:noFill/>
        </p:spPr>
        <p:txBody>
          <a:bodyPr wrap="square" rtlCol="0">
            <a:spAutoFit/>
          </a:bodyPr>
          <a:lstStyle/>
          <a:p>
            <a:r>
              <a:rPr lang="es-CL" b="1" dirty="0">
                <a:solidFill>
                  <a:schemeClr val="bg1"/>
                </a:solidFill>
              </a:rPr>
              <a:t>Service-Auth:</a:t>
            </a:r>
            <a:r>
              <a:rPr lang="es-CL" dirty="0">
                <a:solidFill>
                  <a:schemeClr val="bg1"/>
                </a:solidFill>
              </a:rPr>
              <a:t> Gestiona la autenticación y emisión de tokens JWT del sistema. Mantiene su propia base de datos de credenciales (Usuario) con contraseña encriptada, vinculada a una tabla de roles mediante una relación muchos a muchos (</a:t>
            </a:r>
            <a:r>
              <a:rPr lang="es-CL" dirty="0" err="1">
                <a:solidFill>
                  <a:schemeClr val="bg1"/>
                </a:solidFill>
              </a:rPr>
              <a:t>usuario_roles</a:t>
            </a:r>
            <a:r>
              <a:rPr lang="es-CL" dirty="0">
                <a:solidFill>
                  <a:schemeClr val="bg1"/>
                </a:solidFill>
              </a:rPr>
              <a:t>). Es el guardián de acceso del API Gateway.</a:t>
            </a:r>
          </a:p>
          <a:p>
            <a:endParaRPr lang="es-CL" dirty="0">
              <a:solidFill>
                <a:schemeClr val="bg1"/>
              </a:solidFill>
            </a:endParaRPr>
          </a:p>
          <a:p>
            <a:r>
              <a:rPr lang="es-CL" b="1" dirty="0">
                <a:solidFill>
                  <a:schemeClr val="bg1"/>
                </a:solidFill>
              </a:rPr>
              <a:t>Service-Descuentos:</a:t>
            </a:r>
            <a:r>
              <a:rPr lang="es-CL" dirty="0">
                <a:solidFill>
                  <a:schemeClr val="bg1"/>
                </a:solidFill>
              </a:rPr>
              <a:t> Administra los códigos promocionales del sistema (Descuento). Almacena el código, el porcentaje de rebaja, la fecha de expiración y si el código está activo. No tiene FK directas; su aplicación es lógica al momento de calcular el total de un Pedido.</a:t>
            </a:r>
          </a:p>
          <a:p>
            <a:endParaRPr lang="es-CL" dirty="0">
              <a:solidFill>
                <a:schemeClr val="bg1"/>
              </a:solidFill>
            </a:endParaRPr>
          </a:p>
          <a:p>
            <a:r>
              <a:rPr lang="es-CL" b="1" dirty="0">
                <a:solidFill>
                  <a:schemeClr val="bg1"/>
                </a:solidFill>
              </a:rPr>
              <a:t>Service-Descuentos:</a:t>
            </a:r>
            <a:r>
              <a:rPr lang="es-CL" dirty="0">
                <a:solidFill>
                  <a:schemeClr val="bg1"/>
                </a:solidFill>
              </a:rPr>
              <a:t> Administra los códigos promocionales del sistema (Descuento). Almacena el código, el porcentaje de rebaja, la fecha de expiración y si el código se encuentra activo. No posee FK directas; su aplicación es lógica al momento de calcular el total de un Pedido.</a:t>
            </a:r>
          </a:p>
          <a:p>
            <a:endParaRPr lang="es-CL" b="1" dirty="0">
              <a:solidFill>
                <a:schemeClr val="bg1"/>
              </a:solidFill>
            </a:endParaRPr>
          </a:p>
          <a:p>
            <a:r>
              <a:rPr lang="es-CL" b="1" dirty="0">
                <a:solidFill>
                  <a:schemeClr val="bg1"/>
                </a:solidFill>
              </a:rPr>
              <a:t>Service-</a:t>
            </a:r>
            <a:r>
              <a:rPr lang="es-CL" b="1" dirty="0" err="1">
                <a:solidFill>
                  <a:schemeClr val="bg1"/>
                </a:solidFill>
              </a:rPr>
              <a:t>Resenas</a:t>
            </a:r>
            <a:r>
              <a:rPr lang="es-CL" b="1" dirty="0">
                <a:solidFill>
                  <a:schemeClr val="bg1"/>
                </a:solidFill>
              </a:rPr>
              <a:t>:</a:t>
            </a:r>
            <a:r>
              <a:rPr lang="es-CL" dirty="0">
                <a:solidFill>
                  <a:schemeClr val="bg1"/>
                </a:solidFill>
              </a:rPr>
              <a:t> Gestiona las opiniones de los compradores (</a:t>
            </a:r>
            <a:r>
              <a:rPr lang="es-CL" dirty="0" err="1">
                <a:solidFill>
                  <a:schemeClr val="bg1"/>
                </a:solidFill>
              </a:rPr>
              <a:t>Resena</a:t>
            </a:r>
            <a:r>
              <a:rPr lang="es-CL" dirty="0">
                <a:solidFill>
                  <a:schemeClr val="bg1"/>
                </a:solidFill>
              </a:rPr>
              <a:t>). Registra la puntuación (1 a 5 estrellas) y el comentario del usuario, vinculándose lógicamente tanto con el </a:t>
            </a:r>
            <a:r>
              <a:rPr lang="es-CL" dirty="0" err="1">
                <a:solidFill>
                  <a:schemeClr val="bg1"/>
                </a:solidFill>
              </a:rPr>
              <a:t>usuarioId</a:t>
            </a:r>
            <a:r>
              <a:rPr lang="es-CL" dirty="0">
                <a:solidFill>
                  <a:schemeClr val="bg1"/>
                </a:solidFill>
              </a:rPr>
              <a:t> que la escribe como con el </a:t>
            </a:r>
            <a:r>
              <a:rPr lang="es-CL" dirty="0" err="1">
                <a:solidFill>
                  <a:schemeClr val="bg1"/>
                </a:solidFill>
              </a:rPr>
              <a:t>zapatillaId</a:t>
            </a:r>
            <a:r>
              <a:rPr lang="es-CL" dirty="0">
                <a:solidFill>
                  <a:schemeClr val="bg1"/>
                </a:solidFill>
              </a:rPr>
              <a:t> sobre la que opina.</a:t>
            </a:r>
          </a:p>
          <a:p>
            <a:endParaRPr lang="es-CL" b="1" dirty="0">
              <a:solidFill>
                <a:schemeClr val="bg1"/>
              </a:solidFill>
            </a:endParaRPr>
          </a:p>
          <a:p>
            <a:r>
              <a:rPr lang="es-CL" b="1" dirty="0">
                <a:solidFill>
                  <a:schemeClr val="bg1"/>
                </a:solidFill>
              </a:rPr>
              <a:t>Service-Notificaciones:</a:t>
            </a:r>
            <a:r>
              <a:rPr lang="es-CL" dirty="0">
                <a:solidFill>
                  <a:schemeClr val="bg1"/>
                </a:solidFill>
              </a:rPr>
              <a:t> Se encarga de los avisos internos del sistema (</a:t>
            </a:r>
            <a:r>
              <a:rPr lang="es-CL" dirty="0" err="1">
                <a:solidFill>
                  <a:schemeClr val="bg1"/>
                </a:solidFill>
              </a:rPr>
              <a:t>Notificacion</a:t>
            </a:r>
            <a:r>
              <a:rPr lang="es-CL" dirty="0">
                <a:solidFill>
                  <a:schemeClr val="bg1"/>
                </a:solidFill>
              </a:rPr>
              <a:t>). Almacena el mensaje, el tipo de evento que la originó (pedido, </a:t>
            </a:r>
            <a:r>
              <a:rPr lang="es-CL" dirty="0" err="1">
                <a:solidFill>
                  <a:schemeClr val="bg1"/>
                </a:solidFill>
              </a:rPr>
              <a:t>envio</a:t>
            </a:r>
            <a:r>
              <a:rPr lang="es-CL" dirty="0">
                <a:solidFill>
                  <a:schemeClr val="bg1"/>
                </a:solidFill>
              </a:rPr>
              <a:t>, pago) y si el usuario ya la leyó. Se genera automáticamente ante cambios de estado en otros microservicios, referenciando al </a:t>
            </a:r>
            <a:r>
              <a:rPr lang="es-CL" dirty="0" err="1">
                <a:solidFill>
                  <a:schemeClr val="bg1"/>
                </a:solidFill>
              </a:rPr>
              <a:t>usuarioId</a:t>
            </a:r>
            <a:r>
              <a:rPr lang="es-CL" dirty="0">
                <a:solidFill>
                  <a:schemeClr val="bg1"/>
                </a:solidFill>
              </a:rPr>
              <a:t> destinatario.</a:t>
            </a:r>
          </a:p>
          <a:p>
            <a:endParaRPr lang="es-CL" b="1" dirty="0">
              <a:solidFill>
                <a:schemeClr val="bg1"/>
              </a:solidFill>
            </a:endParaRPr>
          </a:p>
          <a:p>
            <a:r>
              <a:rPr lang="es-CL" b="1" dirty="0">
                <a:solidFill>
                  <a:schemeClr val="bg1"/>
                </a:solidFill>
              </a:rPr>
              <a:t>Service-Proveedores:</a:t>
            </a:r>
            <a:r>
              <a:rPr lang="es-CL" dirty="0">
                <a:solidFill>
                  <a:schemeClr val="bg1"/>
                </a:solidFill>
              </a:rPr>
              <a:t> Administra el catálogo de proveedores del negocio (Proveedor). Gestiona el contacto y correo de cada proveedor, y mediante la entidad </a:t>
            </a:r>
            <a:r>
              <a:rPr lang="es-CL" dirty="0" err="1">
                <a:solidFill>
                  <a:schemeClr val="bg1"/>
                </a:solidFill>
              </a:rPr>
              <a:t>ProveedorMarca</a:t>
            </a:r>
            <a:r>
              <a:rPr lang="es-CL" dirty="0">
                <a:solidFill>
                  <a:schemeClr val="bg1"/>
                </a:solidFill>
              </a:rPr>
              <a:t> registra qué marcas suministra cada uno, referenciando lógicamente el </a:t>
            </a:r>
            <a:r>
              <a:rPr lang="es-CL" dirty="0" err="1">
                <a:solidFill>
                  <a:schemeClr val="bg1"/>
                </a:solidFill>
              </a:rPr>
              <a:t>marcaId</a:t>
            </a:r>
            <a:r>
              <a:rPr lang="es-CL" dirty="0">
                <a:solidFill>
                  <a:schemeClr val="bg1"/>
                </a:solidFill>
              </a:rPr>
              <a:t> de Service-Zapatillas.</a:t>
            </a:r>
          </a:p>
          <a:p>
            <a:endParaRPr lang="es-CL" b="1" dirty="0">
              <a:solidFill>
                <a:schemeClr val="bg1"/>
              </a:solidFill>
            </a:endParaRPr>
          </a:p>
          <a:p>
            <a:r>
              <a:rPr lang="es-CL" b="1" dirty="0">
                <a:solidFill>
                  <a:schemeClr val="bg1"/>
                </a:solidFill>
              </a:rPr>
              <a:t>Service-Reportes:</a:t>
            </a:r>
            <a:r>
              <a:rPr lang="es-CL" dirty="0">
                <a:solidFill>
                  <a:schemeClr val="bg1"/>
                </a:solidFill>
              </a:rPr>
              <a:t> Genera informes de negocio consolidados (Reporte). Almacena el tipo de reporte (</a:t>
            </a:r>
            <a:r>
              <a:rPr lang="es-CL" dirty="0" err="1">
                <a:solidFill>
                  <a:schemeClr val="bg1"/>
                </a:solidFill>
              </a:rPr>
              <a:t>ventas_mensuales</a:t>
            </a:r>
            <a:r>
              <a:rPr lang="es-CL" dirty="0">
                <a:solidFill>
                  <a:schemeClr val="bg1"/>
                </a:solidFill>
              </a:rPr>
              <a:t>, </a:t>
            </a:r>
            <a:r>
              <a:rPr lang="es-CL" dirty="0" err="1">
                <a:solidFill>
                  <a:schemeClr val="bg1"/>
                </a:solidFill>
              </a:rPr>
              <a:t>ventas_general</a:t>
            </a:r>
            <a:r>
              <a:rPr lang="es-CL" dirty="0">
                <a:solidFill>
                  <a:schemeClr val="bg1"/>
                </a:solidFill>
              </a:rPr>
              <a:t>), la fecha de generación, el total de ventas y el total de pedidos procesados. No posee FK directas; agrega datos consultando a Service-Pedidos y Service-Pagos mediante llamadas entre servicios.</a:t>
            </a:r>
          </a:p>
          <a:p>
            <a:endParaRPr lang="es-CL" dirty="0"/>
          </a:p>
        </p:txBody>
      </p:sp>
    </p:spTree>
    <p:extLst>
      <p:ext uri="{BB962C8B-B14F-4D97-AF65-F5344CB8AC3E}">
        <p14:creationId xmlns:p14="http://schemas.microsoft.com/office/powerpoint/2010/main" val="3728568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98"/>
        <p:cNvGrpSpPr/>
        <p:nvPr/>
      </p:nvGrpSpPr>
      <p:grpSpPr>
        <a:xfrm>
          <a:off x="0" y="0"/>
          <a:ext cx="0" cy="0"/>
          <a:chOff x="0" y="0"/>
          <a:chExt cx="0" cy="0"/>
        </a:xfrm>
      </p:grpSpPr>
      <p:sp>
        <p:nvSpPr>
          <p:cNvPr id="199" name="Google Shape;199;p21"/>
          <p:cNvSpPr txBox="1"/>
          <p:nvPr/>
        </p:nvSpPr>
        <p:spPr>
          <a:xfrm>
            <a:off x="3490970" y="317309"/>
            <a:ext cx="5200650"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D4FF"/>
                </a:solidFill>
                <a:latin typeface="Urbanist"/>
                <a:ea typeface="Urbanist"/>
                <a:cs typeface="Urbanist"/>
                <a:sym typeface="Urbanist"/>
              </a:rPr>
              <a:t>DIAGRAMA DE FLUJO</a:t>
            </a:r>
            <a:endParaRPr/>
          </a:p>
        </p:txBody>
      </p:sp>
      <p:sp>
        <p:nvSpPr>
          <p:cNvPr id="200" name="Google Shape;200;p21"/>
          <p:cNvSpPr txBox="1"/>
          <p:nvPr/>
        </p:nvSpPr>
        <p:spPr>
          <a:xfrm>
            <a:off x="3614795" y="1476071"/>
            <a:ext cx="4953000"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err="1">
                <a:solidFill>
                  <a:srgbClr val="CCCCCC"/>
                </a:solidFill>
                <a:latin typeface="Inter"/>
                <a:ea typeface="Inter"/>
                <a:cs typeface="Inter"/>
                <a:sym typeface="Inter"/>
              </a:rPr>
              <a:t>Utilizamos</a:t>
            </a:r>
            <a:r>
              <a:rPr lang="en-US" sz="1500" b="0" i="0" u="none" strike="noStrike" cap="none" dirty="0">
                <a:solidFill>
                  <a:srgbClr val="CCCCCC"/>
                </a:solidFill>
                <a:latin typeface="Inter"/>
                <a:ea typeface="Inter"/>
                <a:cs typeface="Inter"/>
                <a:sym typeface="Inter"/>
              </a:rPr>
              <a:t> un </a:t>
            </a:r>
            <a:r>
              <a:rPr lang="en-US" sz="1500" b="1" i="0" u="none" strike="noStrike" cap="none" dirty="0">
                <a:solidFill>
                  <a:srgbClr val="FFFFFF"/>
                </a:solidFill>
                <a:latin typeface="Inter"/>
                <a:ea typeface="Inter"/>
                <a:cs typeface="Inter"/>
                <a:sym typeface="Inter"/>
              </a:rPr>
              <a:t>API Gateway</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como</a:t>
            </a:r>
            <a:r>
              <a:rPr lang="en-US" sz="1500" b="0" i="0" u="none" strike="noStrike" cap="none" dirty="0">
                <a:solidFill>
                  <a:srgbClr val="CCCCCC"/>
                </a:solidFill>
                <a:latin typeface="Inter"/>
                <a:ea typeface="Inter"/>
                <a:cs typeface="Inter"/>
                <a:sym typeface="Inter"/>
              </a:rPr>
              <a:t> punto </a:t>
            </a:r>
            <a:r>
              <a:rPr lang="en-US" sz="1500" b="0" i="0" u="none" strike="noStrike" cap="none" dirty="0" err="1">
                <a:solidFill>
                  <a:srgbClr val="CCCCCC"/>
                </a:solidFill>
                <a:latin typeface="Inter"/>
                <a:ea typeface="Inter"/>
                <a:cs typeface="Inter"/>
                <a:sym typeface="Inter"/>
              </a:rPr>
              <a:t>único</a:t>
            </a:r>
            <a:r>
              <a:rPr lang="en-US" sz="1500" b="0" i="0" u="none" strike="noStrike" cap="none" dirty="0">
                <a:solidFill>
                  <a:srgbClr val="CCCCCC"/>
                </a:solidFill>
                <a:latin typeface="Inter"/>
                <a:ea typeface="Inter"/>
                <a:cs typeface="Inter"/>
                <a:sym typeface="Inter"/>
              </a:rPr>
              <a:t> de entrada para </a:t>
            </a:r>
            <a:r>
              <a:rPr lang="en-US" sz="1500" b="0" i="0" u="none" strike="noStrike" cap="none" dirty="0" err="1">
                <a:solidFill>
                  <a:srgbClr val="CCCCCC"/>
                </a:solidFill>
                <a:latin typeface="Inter"/>
                <a:ea typeface="Inter"/>
                <a:cs typeface="Inter"/>
                <a:sym typeface="Inter"/>
              </a:rPr>
              <a:t>orquestar</a:t>
            </a:r>
            <a:r>
              <a:rPr lang="en-US" sz="1500" b="0" i="0" u="none" strike="noStrike" cap="none" dirty="0">
                <a:solidFill>
                  <a:srgbClr val="CCCCCC"/>
                </a:solidFill>
                <a:latin typeface="Inter"/>
                <a:ea typeface="Inter"/>
                <a:cs typeface="Inter"/>
                <a:sym typeface="Inter"/>
              </a:rPr>
              <a:t> las </a:t>
            </a:r>
            <a:r>
              <a:rPr lang="en-US" sz="1500" b="0" i="0" u="none" strike="noStrike" cap="none" dirty="0" err="1">
                <a:solidFill>
                  <a:srgbClr val="CCCCCC"/>
                </a:solidFill>
                <a:latin typeface="Inter"/>
                <a:ea typeface="Inter"/>
                <a:cs typeface="Inter"/>
                <a:sym typeface="Inter"/>
              </a:rPr>
              <a:t>peticiones</a:t>
            </a:r>
            <a:r>
              <a:rPr lang="en-US" sz="1500" b="0" i="0" u="none" strike="noStrike" cap="none" dirty="0">
                <a:solidFill>
                  <a:srgbClr val="CCCCCC"/>
                </a:solidFill>
                <a:latin typeface="Inter"/>
                <a:ea typeface="Inter"/>
                <a:cs typeface="Inter"/>
                <a:sym typeface="Inter"/>
              </a:rPr>
              <a:t> entre </a:t>
            </a:r>
            <a:r>
              <a:rPr lang="en-US" sz="1500" b="0" i="0" u="none" strike="noStrike" cap="none" dirty="0" err="1">
                <a:solidFill>
                  <a:srgbClr val="CCCCCC"/>
                </a:solidFill>
                <a:latin typeface="Inter"/>
                <a:ea typeface="Inter"/>
                <a:cs typeface="Inter"/>
                <a:sym typeface="Inter"/>
              </a:rPr>
              <a:t>el</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cliente</a:t>
            </a:r>
            <a:r>
              <a:rPr lang="en-US" sz="1500" b="0" i="0" u="none" strike="noStrike" cap="none" dirty="0">
                <a:solidFill>
                  <a:srgbClr val="CCCCCC"/>
                </a:solidFill>
                <a:latin typeface="Inter"/>
                <a:ea typeface="Inter"/>
                <a:cs typeface="Inter"/>
                <a:sym typeface="Inter"/>
              </a:rPr>
              <a:t> y </a:t>
            </a:r>
            <a:r>
              <a:rPr lang="en-US" sz="1500" b="0" i="0" u="none" strike="noStrike" cap="none" dirty="0" err="1">
                <a:solidFill>
                  <a:srgbClr val="CCCCCC"/>
                </a:solidFill>
                <a:latin typeface="Inter"/>
                <a:ea typeface="Inter"/>
                <a:cs typeface="Inter"/>
                <a:sym typeface="Inter"/>
              </a:rPr>
              <a:t>los</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servicios</a:t>
            </a:r>
            <a:r>
              <a:rPr lang="en-US" sz="1500" b="0" i="0" u="none" strike="noStrike" cap="none" dirty="0">
                <a:solidFill>
                  <a:srgbClr val="CCCCCC"/>
                </a:solidFill>
                <a:latin typeface="Inter"/>
                <a:ea typeface="Inter"/>
                <a:cs typeface="Inter"/>
                <a:sym typeface="Inter"/>
              </a:rPr>
              <a:t>.</a:t>
            </a:r>
            <a:endParaRPr dirty="0"/>
          </a:p>
        </p:txBody>
      </p:sp>
      <p:sp>
        <p:nvSpPr>
          <p:cNvPr id="201" name="Google Shape;201;p21"/>
          <p:cNvSpPr txBox="1"/>
          <p:nvPr/>
        </p:nvSpPr>
        <p:spPr>
          <a:xfrm>
            <a:off x="3614795" y="3547978"/>
            <a:ext cx="4953000"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CCCCCC"/>
                </a:solidFill>
                <a:latin typeface="Inter"/>
                <a:ea typeface="Inter"/>
                <a:cs typeface="Inter"/>
                <a:sym typeface="Inter"/>
              </a:rPr>
              <a:t>Cada </a:t>
            </a:r>
            <a:r>
              <a:rPr lang="en-US" sz="1500" b="0" i="0" u="none" strike="noStrike" cap="none" dirty="0" err="1">
                <a:solidFill>
                  <a:srgbClr val="CCCCCC"/>
                </a:solidFill>
                <a:latin typeface="Inter"/>
                <a:ea typeface="Inter"/>
                <a:cs typeface="Inter"/>
                <a:sym typeface="Inter"/>
              </a:rPr>
              <a:t>microservicio</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posee</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su</a:t>
            </a:r>
            <a:r>
              <a:rPr lang="en-US" sz="1500" b="0" i="0" u="none" strike="noStrike" cap="none" dirty="0">
                <a:solidFill>
                  <a:srgbClr val="CCCCCC"/>
                </a:solidFill>
                <a:latin typeface="Inter"/>
                <a:ea typeface="Inter"/>
                <a:cs typeface="Inter"/>
                <a:sym typeface="Inter"/>
              </a:rPr>
              <a:t> </a:t>
            </a:r>
            <a:r>
              <a:rPr lang="en-US" sz="1500" b="0" i="0" u="none" strike="noStrike" cap="none" dirty="0" err="1">
                <a:solidFill>
                  <a:srgbClr val="CCCCCC"/>
                </a:solidFill>
                <a:latin typeface="Inter"/>
                <a:ea typeface="Inter"/>
                <a:cs typeface="Inter"/>
                <a:sym typeface="Inter"/>
              </a:rPr>
              <a:t>propia</a:t>
            </a:r>
            <a:r>
              <a:rPr lang="en-US" sz="1500" b="0" i="0" u="none" strike="noStrike" cap="none" dirty="0">
                <a:solidFill>
                  <a:srgbClr val="CCCCCC"/>
                </a:solidFill>
                <a:latin typeface="Inter"/>
                <a:ea typeface="Inter"/>
                <a:cs typeface="Inter"/>
                <a:sym typeface="Inter"/>
              </a:rPr>
              <a:t> base de </a:t>
            </a:r>
            <a:r>
              <a:rPr lang="en-US" sz="1500" b="0" i="0" u="none" strike="noStrike" cap="none" dirty="0" err="1">
                <a:solidFill>
                  <a:srgbClr val="CCCCCC"/>
                </a:solidFill>
                <a:latin typeface="Inter"/>
                <a:ea typeface="Inter"/>
                <a:cs typeface="Inter"/>
                <a:sym typeface="Inter"/>
              </a:rPr>
              <a:t>datos</a:t>
            </a:r>
            <a:r>
              <a:rPr lang="en-US" sz="1500" b="0" i="0" u="none" strike="noStrike" cap="none" dirty="0">
                <a:solidFill>
                  <a:srgbClr val="CCCCCC"/>
                </a:solidFill>
                <a:latin typeface="Inter"/>
                <a:ea typeface="Inter"/>
                <a:cs typeface="Inter"/>
                <a:sym typeface="Inter"/>
              </a:rPr>
              <a:t> (Database per service) </a:t>
            </a:r>
            <a:r>
              <a:rPr lang="en-US" sz="1500" b="0" i="0" u="none" strike="noStrike" cap="none" dirty="0" err="1">
                <a:solidFill>
                  <a:srgbClr val="CCCCCC"/>
                </a:solidFill>
                <a:latin typeface="Inter"/>
                <a:ea typeface="Inter"/>
                <a:cs typeface="Inter"/>
                <a:sym typeface="Inter"/>
              </a:rPr>
              <a:t>asegurando</a:t>
            </a:r>
            <a:r>
              <a:rPr lang="en-US" sz="1500" b="0" i="0" u="none" strike="noStrike" cap="none" dirty="0">
                <a:solidFill>
                  <a:srgbClr val="CCCCCC"/>
                </a:solidFill>
                <a:latin typeface="Inter"/>
                <a:ea typeface="Inter"/>
                <a:cs typeface="Inter"/>
                <a:sym typeface="Inter"/>
              </a:rPr>
              <a:t> la </a:t>
            </a:r>
            <a:r>
              <a:rPr lang="en-US" sz="1500" b="0" i="0" u="none" strike="noStrike" cap="none" dirty="0" err="1">
                <a:solidFill>
                  <a:srgbClr val="CCCCCC"/>
                </a:solidFill>
                <a:latin typeface="Inter"/>
                <a:ea typeface="Inter"/>
                <a:cs typeface="Inter"/>
                <a:sym typeface="Inter"/>
              </a:rPr>
              <a:t>independencia</a:t>
            </a:r>
            <a:r>
              <a:rPr lang="en-US" sz="1500" b="0" i="0" u="none" strike="noStrike" cap="none" dirty="0">
                <a:solidFill>
                  <a:srgbClr val="CCCCCC"/>
                </a:solidFill>
                <a:latin typeface="Inter"/>
                <a:ea typeface="Inter"/>
                <a:cs typeface="Inter"/>
                <a:sym typeface="Inter"/>
              </a:rPr>
              <a:t> total.</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98">
          <a:extLst>
            <a:ext uri="{FF2B5EF4-FFF2-40B4-BE49-F238E27FC236}">
              <a16:creationId xmlns:a16="http://schemas.microsoft.com/office/drawing/2014/main" id="{988771A7-E978-1215-EB1B-0921617DB47F}"/>
            </a:ext>
          </a:extLst>
        </p:cNvPr>
        <p:cNvGrpSpPr/>
        <p:nvPr/>
      </p:nvGrpSpPr>
      <p:grpSpPr>
        <a:xfrm>
          <a:off x="0" y="0"/>
          <a:ext cx="0" cy="0"/>
          <a:chOff x="0" y="0"/>
          <a:chExt cx="0" cy="0"/>
        </a:xfrm>
      </p:grpSpPr>
      <p:sp>
        <p:nvSpPr>
          <p:cNvPr id="199" name="Google Shape;199;p21">
            <a:extLst>
              <a:ext uri="{FF2B5EF4-FFF2-40B4-BE49-F238E27FC236}">
                <a16:creationId xmlns:a16="http://schemas.microsoft.com/office/drawing/2014/main" id="{98419A41-6DB3-90CE-24B9-D610DC6FB1F7}"/>
              </a:ext>
            </a:extLst>
          </p:cNvPr>
          <p:cNvSpPr txBox="1"/>
          <p:nvPr/>
        </p:nvSpPr>
        <p:spPr>
          <a:xfrm>
            <a:off x="3490970" y="317309"/>
            <a:ext cx="5200650"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a:solidFill>
                  <a:srgbClr val="00D4FF"/>
                </a:solidFill>
                <a:latin typeface="Urbanist"/>
                <a:ea typeface="Urbanist"/>
                <a:cs typeface="Urbanist"/>
                <a:sym typeface="Urbanist"/>
              </a:rPr>
              <a:t>DIAGRAMA DE FLUJO</a:t>
            </a:r>
            <a:endParaRPr/>
          </a:p>
        </p:txBody>
      </p:sp>
      <p:pic>
        <p:nvPicPr>
          <p:cNvPr id="3" name="Imagen 2">
            <a:extLst>
              <a:ext uri="{FF2B5EF4-FFF2-40B4-BE49-F238E27FC236}">
                <a16:creationId xmlns:a16="http://schemas.microsoft.com/office/drawing/2014/main" id="{3C137E15-0D49-B5D5-26B0-5AF68EB9B18D}"/>
              </a:ext>
            </a:extLst>
          </p:cNvPr>
          <p:cNvPicPr>
            <a:picLocks noChangeAspect="1"/>
          </p:cNvPicPr>
          <p:nvPr/>
        </p:nvPicPr>
        <p:blipFill>
          <a:blip r:embed="rId3"/>
          <a:stretch>
            <a:fillRect/>
          </a:stretch>
        </p:blipFill>
        <p:spPr>
          <a:xfrm>
            <a:off x="1070043" y="869759"/>
            <a:ext cx="10000033" cy="5804592"/>
          </a:xfrm>
          <a:prstGeom prst="rect">
            <a:avLst/>
          </a:prstGeom>
        </p:spPr>
      </p:pic>
    </p:spTree>
    <p:extLst>
      <p:ext uri="{BB962C8B-B14F-4D97-AF65-F5344CB8AC3E}">
        <p14:creationId xmlns:p14="http://schemas.microsoft.com/office/powerpoint/2010/main" val="50985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06"/>
        <p:cNvGrpSpPr/>
        <p:nvPr/>
      </p:nvGrpSpPr>
      <p:grpSpPr>
        <a:xfrm>
          <a:off x="0" y="0"/>
          <a:ext cx="0" cy="0"/>
          <a:chOff x="0" y="0"/>
          <a:chExt cx="0" cy="0"/>
        </a:xfrm>
      </p:grpSpPr>
      <p:sp>
        <p:nvSpPr>
          <p:cNvPr id="207" name="Google Shape;207;p22"/>
          <p:cNvSpPr txBox="1"/>
          <p:nvPr/>
        </p:nvSpPr>
        <p:spPr>
          <a:xfrm>
            <a:off x="762000" y="571500"/>
            <a:ext cx="11401425"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D4FF"/>
                </a:solidFill>
                <a:latin typeface="Urbanist"/>
                <a:ea typeface="Urbanist"/>
                <a:cs typeface="Urbanist"/>
                <a:sym typeface="Urbanist"/>
              </a:rPr>
              <a:t>FRAMEWORK &amp; HERRAMIENTAS</a:t>
            </a:r>
            <a:endParaRPr/>
          </a:p>
        </p:txBody>
      </p:sp>
      <p:sp>
        <p:nvSpPr>
          <p:cNvPr id="208" name="Google Shape;208;p22"/>
          <p:cNvSpPr/>
          <p:nvPr/>
        </p:nvSpPr>
        <p:spPr>
          <a:xfrm>
            <a:off x="571500" y="571500"/>
            <a:ext cx="57150" cy="552450"/>
          </a:xfrm>
          <a:prstGeom prst="rect">
            <a:avLst/>
          </a:prstGeom>
          <a:solidFill>
            <a:srgbClr val="FF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2"/>
          <p:cNvSpPr txBox="1"/>
          <p:nvPr/>
        </p:nvSpPr>
        <p:spPr>
          <a:xfrm>
            <a:off x="715325" y="1600925"/>
            <a:ext cx="11138700" cy="301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dirty="0">
                <a:solidFill>
                  <a:schemeClr val="lt2"/>
                </a:solidFill>
              </a:rPr>
              <a:t>Desarrollo Backend:</a:t>
            </a:r>
            <a:r>
              <a:rPr lang="en-US" sz="1800" dirty="0">
                <a:solidFill>
                  <a:schemeClr val="lt2"/>
                </a:solidFill>
              </a:rPr>
              <a:t> Visual Studio Code </a:t>
            </a:r>
            <a:endParaRPr sz="1800" dirty="0">
              <a:solidFill>
                <a:schemeClr val="lt2"/>
              </a:solidFill>
            </a:endParaRPr>
          </a:p>
          <a:p>
            <a:pPr marL="0" lvl="0" indent="0" algn="l" rtl="0">
              <a:lnSpc>
                <a:spcPct val="115000"/>
              </a:lnSpc>
              <a:spcBef>
                <a:spcPts val="0"/>
              </a:spcBef>
              <a:spcAft>
                <a:spcPts val="0"/>
              </a:spcAft>
              <a:buNone/>
            </a:pPr>
            <a:r>
              <a:rPr lang="en-US" sz="1800" b="1" dirty="0">
                <a:solidFill>
                  <a:schemeClr val="lt2"/>
                </a:solidFill>
              </a:rPr>
              <a:t>Framework Principal:</a:t>
            </a:r>
            <a:r>
              <a:rPr lang="en-US" sz="1800" dirty="0">
                <a:solidFill>
                  <a:schemeClr val="lt2"/>
                </a:solidFill>
              </a:rPr>
              <a:t> Spring Boot.</a:t>
            </a:r>
            <a:endParaRPr sz="1800" dirty="0">
              <a:solidFill>
                <a:schemeClr val="lt2"/>
              </a:solidFill>
            </a:endParaRPr>
          </a:p>
          <a:p>
            <a:pPr marL="0" lvl="0" indent="0" algn="l" rtl="0">
              <a:lnSpc>
                <a:spcPct val="115000"/>
              </a:lnSpc>
              <a:spcBef>
                <a:spcPts val="0"/>
              </a:spcBef>
              <a:spcAft>
                <a:spcPts val="0"/>
              </a:spcAft>
              <a:buNone/>
            </a:pPr>
            <a:r>
              <a:rPr lang="en-US" sz="1800" b="1" dirty="0">
                <a:solidFill>
                  <a:schemeClr val="lt2"/>
                </a:solidFill>
              </a:rPr>
              <a:t>Gestor de </a:t>
            </a:r>
            <a:r>
              <a:rPr lang="en-US" sz="1800" b="1" dirty="0" err="1">
                <a:solidFill>
                  <a:schemeClr val="lt2"/>
                </a:solidFill>
              </a:rPr>
              <a:t>Dependencias</a:t>
            </a:r>
            <a:r>
              <a:rPr lang="en-US" sz="1800" b="1" dirty="0">
                <a:solidFill>
                  <a:schemeClr val="lt2"/>
                </a:solidFill>
              </a:rPr>
              <a:t>:</a:t>
            </a:r>
            <a:r>
              <a:rPr lang="en-US" sz="1800" dirty="0">
                <a:solidFill>
                  <a:schemeClr val="lt2"/>
                </a:solidFill>
              </a:rPr>
              <a:t> Maven (para </a:t>
            </a:r>
            <a:r>
              <a:rPr lang="en-US" sz="1800" dirty="0" err="1">
                <a:solidFill>
                  <a:schemeClr val="lt2"/>
                </a:solidFill>
              </a:rPr>
              <a:t>configurar</a:t>
            </a:r>
            <a:r>
              <a:rPr lang="en-US" sz="1800" dirty="0">
                <a:solidFill>
                  <a:schemeClr val="lt2"/>
                </a:solidFill>
              </a:rPr>
              <a:t> </a:t>
            </a:r>
            <a:r>
              <a:rPr lang="en-US" sz="1800" dirty="0" err="1">
                <a:solidFill>
                  <a:schemeClr val="lt2"/>
                </a:solidFill>
              </a:rPr>
              <a:t>el</a:t>
            </a:r>
            <a:r>
              <a:rPr lang="en-US" sz="1800" dirty="0">
                <a:solidFill>
                  <a:schemeClr val="lt2"/>
                </a:solidFill>
              </a:rPr>
              <a:t> </a:t>
            </a:r>
            <a:r>
              <a:rPr lang="en-US" sz="1800" dirty="0" err="1">
                <a:solidFill>
                  <a:schemeClr val="lt2"/>
                </a:solidFill>
              </a:rPr>
              <a:t>ciclo</a:t>
            </a:r>
            <a:r>
              <a:rPr lang="en-US" sz="1800" dirty="0">
                <a:solidFill>
                  <a:schemeClr val="lt2"/>
                </a:solidFill>
              </a:rPr>
              <a:t> de </a:t>
            </a:r>
            <a:r>
              <a:rPr lang="en-US" sz="1800" dirty="0" err="1">
                <a:solidFill>
                  <a:schemeClr val="lt2"/>
                </a:solidFill>
              </a:rPr>
              <a:t>vida</a:t>
            </a:r>
            <a:r>
              <a:rPr lang="en-US" sz="1800" dirty="0">
                <a:solidFill>
                  <a:schemeClr val="lt2"/>
                </a:solidFill>
              </a:rPr>
              <a:t> y </a:t>
            </a:r>
            <a:r>
              <a:rPr lang="en-US" sz="1800" dirty="0" err="1">
                <a:solidFill>
                  <a:schemeClr val="lt2"/>
                </a:solidFill>
              </a:rPr>
              <a:t>los</a:t>
            </a:r>
            <a:r>
              <a:rPr lang="en-US" sz="1800" dirty="0">
                <a:solidFill>
                  <a:schemeClr val="lt2"/>
                </a:solidFill>
              </a:rPr>
              <a:t> </a:t>
            </a:r>
            <a:r>
              <a:rPr lang="en-US" sz="1800" dirty="0" err="1">
                <a:solidFill>
                  <a:schemeClr val="lt2"/>
                </a:solidFill>
              </a:rPr>
              <a:t>archivos</a:t>
            </a:r>
            <a:r>
              <a:rPr lang="en-US" sz="1800" dirty="0">
                <a:solidFill>
                  <a:schemeClr val="lt2"/>
                </a:solidFill>
              </a:rPr>
              <a:t> POM).</a:t>
            </a:r>
            <a:endParaRPr sz="1800" dirty="0">
              <a:solidFill>
                <a:schemeClr val="lt2"/>
              </a:solidFill>
            </a:endParaRPr>
          </a:p>
          <a:p>
            <a:pPr marL="0" lvl="0" indent="0" algn="l" rtl="0">
              <a:lnSpc>
                <a:spcPct val="115000"/>
              </a:lnSpc>
              <a:spcBef>
                <a:spcPts val="0"/>
              </a:spcBef>
              <a:spcAft>
                <a:spcPts val="0"/>
              </a:spcAft>
              <a:buNone/>
            </a:pPr>
            <a:r>
              <a:rPr lang="en-US" sz="1800" b="1" dirty="0">
                <a:solidFill>
                  <a:schemeClr val="lt2"/>
                </a:solidFill>
              </a:rPr>
              <a:t>Base de Datos:</a:t>
            </a:r>
            <a:r>
              <a:rPr lang="en-US" sz="1800" dirty="0">
                <a:solidFill>
                  <a:schemeClr val="lt2"/>
                </a:solidFill>
              </a:rPr>
              <a:t> MySQL (para </a:t>
            </a:r>
            <a:r>
              <a:rPr lang="en-US" sz="1800" dirty="0" err="1">
                <a:solidFill>
                  <a:schemeClr val="lt2"/>
                </a:solidFill>
              </a:rPr>
              <a:t>el</a:t>
            </a:r>
            <a:r>
              <a:rPr lang="en-US" sz="1800" dirty="0">
                <a:solidFill>
                  <a:schemeClr val="lt2"/>
                </a:solidFill>
              </a:rPr>
              <a:t> </a:t>
            </a:r>
            <a:r>
              <a:rPr lang="en-US" sz="1800" dirty="0" err="1">
                <a:solidFill>
                  <a:schemeClr val="lt2"/>
                </a:solidFill>
              </a:rPr>
              <a:t>modelamiento</a:t>
            </a:r>
            <a:r>
              <a:rPr lang="en-US" sz="1800" dirty="0">
                <a:solidFill>
                  <a:schemeClr val="lt2"/>
                </a:solidFill>
              </a:rPr>
              <a:t> </a:t>
            </a:r>
            <a:r>
              <a:rPr lang="en-US" sz="1800" dirty="0" err="1">
                <a:solidFill>
                  <a:schemeClr val="lt2"/>
                </a:solidFill>
              </a:rPr>
              <a:t>relacional</a:t>
            </a:r>
            <a:r>
              <a:rPr lang="en-US" sz="1800" dirty="0">
                <a:solidFill>
                  <a:schemeClr val="lt2"/>
                </a:solidFill>
              </a:rPr>
              <a:t> y </a:t>
            </a:r>
            <a:r>
              <a:rPr lang="en-US" sz="1800" dirty="0" err="1">
                <a:solidFill>
                  <a:schemeClr val="lt2"/>
                </a:solidFill>
              </a:rPr>
              <a:t>almacenamiento</a:t>
            </a:r>
            <a:r>
              <a:rPr lang="en-US" sz="1800" dirty="0">
                <a:solidFill>
                  <a:schemeClr val="lt2"/>
                </a:solidFill>
              </a:rPr>
              <a:t> de </a:t>
            </a:r>
            <a:r>
              <a:rPr lang="en-US" sz="1800" dirty="0" err="1">
                <a:solidFill>
                  <a:schemeClr val="lt2"/>
                </a:solidFill>
              </a:rPr>
              <a:t>datos</a:t>
            </a:r>
            <a:r>
              <a:rPr lang="en-US" sz="1800" dirty="0">
                <a:solidFill>
                  <a:schemeClr val="lt2"/>
                </a:solidFill>
              </a:rPr>
              <a:t>).</a:t>
            </a:r>
            <a:endParaRPr sz="1800" dirty="0">
              <a:solidFill>
                <a:schemeClr val="lt2"/>
              </a:solidFill>
            </a:endParaRPr>
          </a:p>
          <a:p>
            <a:pPr marL="0" lvl="0" indent="0" algn="l" rtl="0">
              <a:lnSpc>
                <a:spcPct val="115000"/>
              </a:lnSpc>
              <a:spcBef>
                <a:spcPts val="0"/>
              </a:spcBef>
              <a:spcAft>
                <a:spcPts val="0"/>
              </a:spcAft>
              <a:buNone/>
            </a:pPr>
            <a:r>
              <a:rPr lang="en-US" sz="1800" b="1" dirty="0" err="1">
                <a:solidFill>
                  <a:schemeClr val="lt2"/>
                </a:solidFill>
              </a:rPr>
              <a:t>Pruebas</a:t>
            </a:r>
            <a:r>
              <a:rPr lang="en-US" sz="1800" b="1" dirty="0">
                <a:solidFill>
                  <a:schemeClr val="lt2"/>
                </a:solidFill>
              </a:rPr>
              <a:t> de API:</a:t>
            </a:r>
            <a:r>
              <a:rPr lang="en-US" sz="1800" dirty="0">
                <a:solidFill>
                  <a:schemeClr val="lt2"/>
                </a:solidFill>
              </a:rPr>
              <a:t> Postman (para </a:t>
            </a:r>
            <a:r>
              <a:rPr lang="en-US" sz="1800" dirty="0" err="1">
                <a:solidFill>
                  <a:schemeClr val="lt2"/>
                </a:solidFill>
              </a:rPr>
              <a:t>ejecutar</a:t>
            </a:r>
            <a:r>
              <a:rPr lang="en-US" sz="1800" dirty="0">
                <a:solidFill>
                  <a:schemeClr val="lt2"/>
                </a:solidFill>
              </a:rPr>
              <a:t> y </a:t>
            </a:r>
            <a:r>
              <a:rPr lang="en-US" sz="1800" dirty="0" err="1">
                <a:solidFill>
                  <a:schemeClr val="lt2"/>
                </a:solidFill>
              </a:rPr>
              <a:t>validar</a:t>
            </a:r>
            <a:r>
              <a:rPr lang="en-US" sz="1800" dirty="0">
                <a:solidFill>
                  <a:schemeClr val="lt2"/>
                </a:solidFill>
              </a:rPr>
              <a:t> </a:t>
            </a:r>
            <a:r>
              <a:rPr lang="en-US" sz="1800" dirty="0" err="1">
                <a:solidFill>
                  <a:schemeClr val="lt2"/>
                </a:solidFill>
              </a:rPr>
              <a:t>el</a:t>
            </a:r>
            <a:r>
              <a:rPr lang="en-US" sz="1800" dirty="0">
                <a:solidFill>
                  <a:schemeClr val="lt2"/>
                </a:solidFill>
              </a:rPr>
              <a:t> </a:t>
            </a:r>
            <a:r>
              <a:rPr lang="en-US" sz="1800" dirty="0" err="1">
                <a:solidFill>
                  <a:schemeClr val="lt2"/>
                </a:solidFill>
              </a:rPr>
              <a:t>consumo</a:t>
            </a:r>
            <a:r>
              <a:rPr lang="en-US" sz="1800" dirty="0">
                <a:solidFill>
                  <a:schemeClr val="lt2"/>
                </a:solidFill>
              </a:rPr>
              <a:t> de </a:t>
            </a:r>
            <a:r>
              <a:rPr lang="en-US" sz="1800" dirty="0" err="1">
                <a:solidFill>
                  <a:schemeClr val="lt2"/>
                </a:solidFill>
              </a:rPr>
              <a:t>los</a:t>
            </a:r>
            <a:r>
              <a:rPr lang="en-US" sz="1800" dirty="0">
                <a:solidFill>
                  <a:schemeClr val="lt2"/>
                </a:solidFill>
              </a:rPr>
              <a:t> </a:t>
            </a:r>
            <a:r>
              <a:rPr lang="en-US" sz="1800" dirty="0" err="1">
                <a:solidFill>
                  <a:schemeClr val="lt2"/>
                </a:solidFill>
              </a:rPr>
              <a:t>servicios</a:t>
            </a:r>
            <a:r>
              <a:rPr lang="en-US" sz="1800" dirty="0">
                <a:solidFill>
                  <a:schemeClr val="lt2"/>
                </a:solidFill>
              </a:rPr>
              <a:t>).</a:t>
            </a:r>
            <a:endParaRPr sz="1800" dirty="0">
              <a:solidFill>
                <a:schemeClr val="lt2"/>
              </a:solidFill>
            </a:endParaRPr>
          </a:p>
          <a:p>
            <a:pPr marL="0" lvl="0" indent="0" algn="l" rtl="0">
              <a:lnSpc>
                <a:spcPct val="115000"/>
              </a:lnSpc>
              <a:spcBef>
                <a:spcPts val="0"/>
              </a:spcBef>
              <a:spcAft>
                <a:spcPts val="0"/>
              </a:spcAft>
              <a:buNone/>
            </a:pPr>
            <a:r>
              <a:rPr lang="en-US" sz="1800" b="1" dirty="0">
                <a:solidFill>
                  <a:schemeClr val="lt2"/>
                </a:solidFill>
              </a:rPr>
              <a:t>Control de </a:t>
            </a:r>
            <a:r>
              <a:rPr lang="en-US" sz="1800" b="1" dirty="0" err="1">
                <a:solidFill>
                  <a:schemeClr val="lt2"/>
                </a:solidFill>
              </a:rPr>
              <a:t>Versiones</a:t>
            </a:r>
            <a:r>
              <a:rPr lang="en-US" sz="1800" b="1" dirty="0">
                <a:solidFill>
                  <a:schemeClr val="lt2"/>
                </a:solidFill>
              </a:rPr>
              <a:t>:</a:t>
            </a:r>
            <a:r>
              <a:rPr lang="en-US" sz="1800" dirty="0">
                <a:solidFill>
                  <a:schemeClr val="lt2"/>
                </a:solidFill>
              </a:rPr>
              <a:t> GitHub (</a:t>
            </a:r>
            <a:r>
              <a:rPr lang="en-US" sz="1800" dirty="0" err="1">
                <a:solidFill>
                  <a:schemeClr val="lt2"/>
                </a:solidFill>
              </a:rPr>
              <a:t>repositorio</a:t>
            </a:r>
            <a:r>
              <a:rPr lang="en-US" sz="1800" dirty="0">
                <a:solidFill>
                  <a:schemeClr val="lt2"/>
                </a:solidFill>
              </a:rPr>
              <a:t> privado para </a:t>
            </a:r>
            <a:r>
              <a:rPr lang="en-US" sz="1800" dirty="0" err="1">
                <a:solidFill>
                  <a:schemeClr val="lt2"/>
                </a:solidFill>
              </a:rPr>
              <a:t>el</a:t>
            </a:r>
            <a:r>
              <a:rPr lang="en-US" sz="1800" dirty="0">
                <a:solidFill>
                  <a:schemeClr val="lt2"/>
                </a:solidFill>
              </a:rPr>
              <a:t> </a:t>
            </a:r>
            <a:r>
              <a:rPr lang="en-US" sz="1800" dirty="0" err="1">
                <a:solidFill>
                  <a:schemeClr val="lt2"/>
                </a:solidFill>
              </a:rPr>
              <a:t>trabajo</a:t>
            </a:r>
            <a:r>
              <a:rPr lang="en-US" sz="1800" dirty="0">
                <a:solidFill>
                  <a:schemeClr val="lt2"/>
                </a:solidFill>
              </a:rPr>
              <a:t> </a:t>
            </a:r>
            <a:r>
              <a:rPr lang="en-US" sz="1800" dirty="0" err="1">
                <a:solidFill>
                  <a:schemeClr val="lt2"/>
                </a:solidFill>
              </a:rPr>
              <a:t>colaborativo</a:t>
            </a:r>
            <a:r>
              <a:rPr lang="en-US" sz="1800" dirty="0">
                <a:solidFill>
                  <a:schemeClr val="lt2"/>
                </a:solidFill>
              </a:rPr>
              <a:t>).</a:t>
            </a:r>
            <a:endParaRPr sz="1800" dirty="0">
              <a:solidFill>
                <a:schemeClr val="lt2"/>
              </a:solidFill>
            </a:endParaRPr>
          </a:p>
          <a:p>
            <a:pPr marL="0" lvl="0" indent="0" algn="l" rtl="0">
              <a:lnSpc>
                <a:spcPct val="115000"/>
              </a:lnSpc>
              <a:spcBef>
                <a:spcPts val="0"/>
              </a:spcBef>
              <a:spcAft>
                <a:spcPts val="0"/>
              </a:spcAft>
              <a:buNone/>
            </a:pPr>
            <a:r>
              <a:rPr lang="en-US" sz="1800" b="1" dirty="0">
                <a:solidFill>
                  <a:schemeClr val="lt2"/>
                </a:solidFill>
              </a:rPr>
              <a:t>Presentación de Proyecto: </a:t>
            </a:r>
            <a:r>
              <a:rPr lang="en-US" sz="1800" dirty="0">
                <a:solidFill>
                  <a:schemeClr val="lt2"/>
                </a:solidFill>
              </a:rPr>
              <a:t>PowerPoint.</a:t>
            </a:r>
            <a:endParaRPr sz="1800" dirty="0">
              <a:solidFill>
                <a:schemeClr val="lt2"/>
              </a:solidFill>
            </a:endParaRPr>
          </a:p>
          <a:p>
            <a:pPr marL="0" lvl="0" indent="0" algn="l" rtl="0">
              <a:lnSpc>
                <a:spcPct val="115000"/>
              </a:lnSpc>
              <a:spcBef>
                <a:spcPts val="0"/>
              </a:spcBef>
              <a:spcAft>
                <a:spcPts val="0"/>
              </a:spcAft>
              <a:buNone/>
            </a:pPr>
            <a:br>
              <a:rPr lang="en-US" sz="1800" dirty="0">
                <a:solidFill>
                  <a:schemeClr val="lt2"/>
                </a:solidFill>
              </a:rPr>
            </a:br>
            <a:endParaRPr sz="1800" dirty="0">
              <a:solidFill>
                <a:schemeClr val="l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13"/>
        <p:cNvGrpSpPr/>
        <p:nvPr/>
      </p:nvGrpSpPr>
      <p:grpSpPr>
        <a:xfrm>
          <a:off x="0" y="0"/>
          <a:ext cx="0" cy="0"/>
          <a:chOff x="0" y="0"/>
          <a:chExt cx="0" cy="0"/>
        </a:xfrm>
      </p:grpSpPr>
      <p:sp>
        <p:nvSpPr>
          <p:cNvPr id="216" name="Google Shape;216;p23"/>
          <p:cNvSpPr txBox="1"/>
          <p:nvPr/>
        </p:nvSpPr>
        <p:spPr>
          <a:xfrm>
            <a:off x="295275" y="2151158"/>
            <a:ext cx="11601450" cy="3108543"/>
          </a:xfrm>
          <a:prstGeom prst="rect">
            <a:avLst/>
          </a:prstGeom>
          <a:noFill/>
          <a:ln>
            <a:noFill/>
          </a:ln>
        </p:spPr>
        <p:txBody>
          <a:bodyPr spcFirstLastPara="1" wrap="square" lIns="0" tIns="0" rIns="0" bIns="0" anchor="t" anchorCtr="0">
            <a:spAutoFit/>
          </a:bodyPr>
          <a:lstStyle/>
          <a:p>
            <a:pPr algn="ctr"/>
            <a:r>
              <a:rPr lang="es-CL" sz="1800" dirty="0">
                <a:highlight>
                  <a:srgbClr val="F8F8F8"/>
                </a:highlight>
              </a:rPr>
              <a:t>Como equipo, concluimos que la implementación de una arquitectura basada en microservicios para la tienda de zapatillas </a:t>
            </a:r>
            <a:r>
              <a:rPr lang="es-CL" sz="1800" b="1" dirty="0">
                <a:highlight>
                  <a:srgbClr val="F8F8F8"/>
                </a:highlight>
              </a:rPr>
              <a:t>SNEAKERHUB</a:t>
            </a:r>
            <a:r>
              <a:rPr lang="es-CL" sz="1800" dirty="0">
                <a:highlight>
                  <a:srgbClr val="F8F8F8"/>
                </a:highlight>
              </a:rPr>
              <a:t> representa una solución escalable y altamente efectiva para las necesidades del cliente. Al dividir el sistema en servicios completamente independientes (usuarios, zapatillas, pedidos, pagos, envíos, entre otros), estamos aplicando buenas prácticas de diseño y arquitectura de software. Esto garantiza que cada componente del </a:t>
            </a:r>
            <a:r>
              <a:rPr lang="es-CL" sz="1800" dirty="0" err="1">
                <a:highlight>
                  <a:srgbClr val="F8F8F8"/>
                </a:highlight>
              </a:rPr>
              <a:t>backend</a:t>
            </a:r>
            <a:r>
              <a:rPr lang="es-CL" sz="1800" dirty="0">
                <a:highlight>
                  <a:srgbClr val="F8F8F8"/>
                </a:highlight>
              </a:rPr>
              <a:t> sea autónomo y mantenible de forma individual, permitiendo una escalabilidad fluida para el crecimiento del negocio, también, la integración del API Gateway como punto de entrada único, hace mas eficiente el control de acceso. Los servicios complementarios como notificaciones, descuentos, reseñas y reportes mejoran la experiencia del usuario final y entregan al cliente una plataforma completa y lista para unas futuras fases del proyecto</a:t>
            </a:r>
            <a:r>
              <a:rPr lang="en-US" sz="1800" b="1" dirty="0">
                <a:solidFill>
                  <a:srgbClr val="262626"/>
                </a:solidFill>
                <a:highlight>
                  <a:srgbClr val="F8F8F8"/>
                </a:highlight>
                <a:ea typeface="Open Sans"/>
                <a:sym typeface="Urbanist"/>
              </a:rPr>
              <a:t>.</a:t>
            </a:r>
            <a:br>
              <a:rPr lang="en-US" sz="1800" b="1" dirty="0"/>
            </a:br>
            <a:endParaRPr lang="en-US" sz="4000" b="1" dirty="0"/>
          </a:p>
        </p:txBody>
      </p:sp>
      <p:sp>
        <p:nvSpPr>
          <p:cNvPr id="217" name="Google Shape;217;p23"/>
          <p:cNvSpPr txBox="1"/>
          <p:nvPr/>
        </p:nvSpPr>
        <p:spPr>
          <a:xfrm>
            <a:off x="571500" y="4600575"/>
            <a:ext cx="11049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00D4FF"/>
                </a:solidFill>
                <a:latin typeface="Inter"/>
                <a:ea typeface="Inter"/>
                <a:cs typeface="Inter"/>
                <a:sym typeface="Inter"/>
              </a:rPr>
              <a:t>- EQUIPO SNEAKERHUB -</a:t>
            </a:r>
            <a:endParaRPr/>
          </a:p>
        </p:txBody>
      </p:sp>
      <p:sp>
        <p:nvSpPr>
          <p:cNvPr id="4" name="CuadroTexto 3">
            <a:extLst>
              <a:ext uri="{FF2B5EF4-FFF2-40B4-BE49-F238E27FC236}">
                <a16:creationId xmlns:a16="http://schemas.microsoft.com/office/drawing/2014/main" id="{B91F6B53-50F4-CB1A-0EF9-4E68083317EC}"/>
              </a:ext>
            </a:extLst>
          </p:cNvPr>
          <p:cNvSpPr txBox="1"/>
          <p:nvPr/>
        </p:nvSpPr>
        <p:spPr>
          <a:xfrm>
            <a:off x="1445601" y="696768"/>
            <a:ext cx="930442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6000" b="1">
                <a:solidFill>
                  <a:srgbClr val="7030A0"/>
                </a:solidFill>
              </a:rPr>
              <a:t>CONCLUSIÓN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1"/>
        <p:cNvGrpSpPr/>
        <p:nvPr/>
      </p:nvGrpSpPr>
      <p:grpSpPr>
        <a:xfrm>
          <a:off x="0" y="0"/>
          <a:ext cx="0" cy="0"/>
          <a:chOff x="0" y="0"/>
          <a:chExt cx="0" cy="0"/>
        </a:xfrm>
      </p:grpSpPr>
      <p:sp>
        <p:nvSpPr>
          <p:cNvPr id="223" name="Google Shape;223;p24"/>
          <p:cNvSpPr txBox="1"/>
          <p:nvPr/>
        </p:nvSpPr>
        <p:spPr>
          <a:xfrm>
            <a:off x="445670" y="2694181"/>
            <a:ext cx="11601450" cy="851772"/>
          </a:xfrm>
          <a:prstGeom prst="rect">
            <a:avLst/>
          </a:prstGeom>
          <a:noFill/>
          <a:ln>
            <a:noFill/>
          </a:ln>
        </p:spPr>
        <p:txBody>
          <a:bodyPr spcFirstLastPara="1" wrap="square" lIns="0" tIns="0" rIns="0" bIns="0" anchor="t" anchorCtr="0">
            <a:spAutoFit/>
          </a:bodyPr>
          <a:lstStyle/>
          <a:p>
            <a:pPr algn="ctr">
              <a:lnSpc>
                <a:spcPct val="89983"/>
              </a:lnSpc>
            </a:pPr>
            <a:r>
              <a:rPr lang="en-US" sz="6150" b="1">
                <a:solidFill>
                  <a:srgbClr val="FF00FF"/>
                </a:solidFill>
                <a:latin typeface="Urbanist"/>
                <a:ea typeface="Urbanist"/>
                <a:cs typeface="Urbanist"/>
                <a:sym typeface="Urbanist"/>
              </a:rPr>
              <a:t>MUCHAS GRACIAS.</a:t>
            </a:r>
            <a:endParaRPr/>
          </a:p>
        </p:txBody>
      </p:sp>
      <p:sp>
        <p:nvSpPr>
          <p:cNvPr id="224" name="Google Shape;224;p24"/>
          <p:cNvSpPr txBox="1"/>
          <p:nvPr/>
        </p:nvSpPr>
        <p:spPr>
          <a:xfrm>
            <a:off x="571500" y="3748017"/>
            <a:ext cx="1104900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CCCCCC"/>
                </a:solidFill>
                <a:latin typeface="Inter"/>
                <a:ea typeface="Inter"/>
                <a:cs typeface="Inter"/>
                <a:sym typeface="Inter"/>
              </a:rPr>
              <a:t>Presentación del Proyecto SneakerHub</a:t>
            </a:r>
            <a:endParaRPr/>
          </a:p>
        </p:txBody>
      </p:sp>
      <p:sp>
        <p:nvSpPr>
          <p:cNvPr id="2" name="Signo menos 1">
            <a:extLst>
              <a:ext uri="{FF2B5EF4-FFF2-40B4-BE49-F238E27FC236}">
                <a16:creationId xmlns:a16="http://schemas.microsoft.com/office/drawing/2014/main" id="{C9D18586-E7C8-BC79-8ADC-1E0B136F1582}"/>
              </a:ext>
            </a:extLst>
          </p:cNvPr>
          <p:cNvSpPr/>
          <p:nvPr/>
        </p:nvSpPr>
        <p:spPr>
          <a:xfrm>
            <a:off x="4441657" y="3529263"/>
            <a:ext cx="3278605" cy="200526"/>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1220</Words>
  <Application>Microsoft Office PowerPoint</Application>
  <PresentationFormat>Panorámica</PresentationFormat>
  <Paragraphs>67</Paragraphs>
  <Slides>15</Slides>
  <Notes>15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Calibri</vt:lpstr>
      <vt:lpstr>Urbanist</vt:lpstr>
      <vt:lpstr>Inter</vt:lpstr>
      <vt:lpstr>Arial</vt:lpstr>
      <vt:lpstr>Open Sans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MACARENA PAZ MORALES SANTIBANEZ</cp:lastModifiedBy>
  <cp:revision>222</cp:revision>
  <dcterms:modified xsi:type="dcterms:W3CDTF">2026-06-22T22:35:55Z</dcterms:modified>
</cp:coreProperties>
</file>